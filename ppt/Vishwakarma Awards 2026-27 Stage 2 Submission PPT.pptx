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76" r:id="rId3"/>
    <p:sldId id="277" r:id="rId4"/>
    <p:sldId id="278" r:id="rId5"/>
    <p:sldId id="280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83" r:id="rId14"/>
    <p:sldId id="282" r:id="rId15"/>
    <p:sldId id="271" r:id="rId16"/>
    <p:sldId id="281" r:id="rId17"/>
    <p:sldId id="274" r:id="rId18"/>
    <p:sldId id="275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684548-68A3-489F-A398-CB6BE680933D}">
  <a:tblStyle styleId="{BB684548-68A3-489F-A398-CB6BE680933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b70659208_26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g3fb70659208_26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ConquerToFreedom/SwasthEdg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wYRzzO_YdnxeIhUycdN4n_Zos5l7g55y/view?usp=sharing" TargetMode="External"/><Relationship Id="rId3" Type="http://schemas.openxmlformats.org/officeDocument/2006/relationships/hyperlink" Target="https://drive.google.com/file/d/18aVEA84JQQvSDFFv31FtURB8URP6s71-/view?usp=sharing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5" Type="http://schemas.openxmlformats.org/officeDocument/2006/relationships/hyperlink" Target="https://drive.google.com/file/d/1UwEtkNEv0FDomdyTmOcfXZVLesxRijE1/view?usp=sharing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s://www.kicad.org/" TargetMode="External"/><Relationship Id="rId9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q7pAoYTXLVP09OUnn3g1jxPzuWNZ1AVV" TargetMode="External"/><Relationship Id="rId7" Type="http://schemas.openxmlformats.org/officeDocument/2006/relationships/hyperlink" Target="https://drive.google.com/file/d/1MzbbyO2kHNY1_z6F4SUou90y5NS2iWfl/view?usp=drivesdk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20528" y="3182619"/>
            <a:ext cx="7551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VK26-IITI-AHM-0295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905250" y="4062412"/>
            <a:ext cx="438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70213" y="2268205"/>
            <a:ext cx="5851614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00669" y="80825"/>
            <a:ext cx="1491330" cy="78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VK colored transparent logo.png"/>
          <p:cNvPicPr preferRelativeResize="0"/>
          <p:nvPr/>
        </p:nvPicPr>
        <p:blipFill rotWithShape="1">
          <a:blip r:embed="rId6">
            <a:alphaModFix/>
          </a:blip>
          <a:srcRect l="14673" t="33074" r="15820" b="44466"/>
          <a:stretch/>
        </p:blipFill>
        <p:spPr>
          <a:xfrm>
            <a:off x="0" y="80825"/>
            <a:ext cx="2428825" cy="78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00;p14" title="MBF_Logo_2020.png">
            <a:extLst>
              <a:ext uri="{FF2B5EF4-FFF2-40B4-BE49-F238E27FC236}">
                <a16:creationId xmlns:a16="http://schemas.microsoft.com/office/drawing/2014/main" id="{1629A46E-5574-6CE1-F651-A525033008D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01;p14" title="VK colored transparent logo.png">
            <a:extLst>
              <a:ext uri="{FF2B5EF4-FFF2-40B4-BE49-F238E27FC236}">
                <a16:creationId xmlns:a16="http://schemas.microsoft.com/office/drawing/2014/main" id="{630F5C1D-D960-4A35-8D49-31A4AF8F83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713482-6B48-E740-DB8D-4BD38B529D88}"/>
              </a:ext>
            </a:extLst>
          </p:cNvPr>
          <p:cNvSpPr txBox="1"/>
          <p:nvPr/>
        </p:nvSpPr>
        <p:spPr>
          <a:xfrm>
            <a:off x="762778" y="596303"/>
            <a:ext cx="3258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Project Overview</a:t>
            </a:r>
            <a:r>
              <a:rPr lang="en-US" sz="32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endParaRPr lang="en-I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C55A0-BD29-CCAB-98A8-0FFFD421C2E2}"/>
              </a:ext>
            </a:extLst>
          </p:cNvPr>
          <p:cNvSpPr txBox="1"/>
          <p:nvPr/>
        </p:nvSpPr>
        <p:spPr>
          <a:xfrm>
            <a:off x="4170784" y="1554416"/>
            <a:ext cx="36669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Title - </a:t>
            </a: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IN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SwasthEdge</a:t>
            </a: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en-IN" sz="24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F1CCAA-5685-EEBB-B380-510CA57DC711}"/>
              </a:ext>
            </a:extLst>
          </p:cNvPr>
          <p:cNvSpPr txBox="1"/>
          <p:nvPr/>
        </p:nvSpPr>
        <p:spPr>
          <a:xfrm>
            <a:off x="3047217" y="2357984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Team ID - </a:t>
            </a: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VK26-IITI-AHM-0295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3F6042-9F94-F197-E649-6AF691421544}"/>
              </a:ext>
            </a:extLst>
          </p:cNvPr>
          <p:cNvSpPr txBox="1"/>
          <p:nvPr/>
        </p:nvSpPr>
        <p:spPr>
          <a:xfrm>
            <a:off x="1587560" y="3232804"/>
            <a:ext cx="916343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Track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-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  Theme: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Al in Hardware Manufacturing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             Sub-Theme: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Edge Al &amp; On-Chip Processing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49EEC6-1D5B-6637-1047-163DA29DD019}"/>
              </a:ext>
            </a:extLst>
          </p:cNvPr>
          <p:cNvSpPr txBox="1"/>
          <p:nvPr/>
        </p:nvSpPr>
        <p:spPr>
          <a:xfrm>
            <a:off x="1514275" y="4600067"/>
            <a:ext cx="9310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 low-cost self-diagnosing edge controller that fuses sensor, electrical, and controller-health data to confirm faults locally and trigger appropriate responses without continuous cloud connectivity.”</a:t>
            </a:r>
          </a:p>
        </p:txBody>
      </p:sp>
    </p:spTree>
    <p:extLst>
      <p:ext uri="{BB962C8B-B14F-4D97-AF65-F5344CB8AC3E}">
        <p14:creationId xmlns:p14="http://schemas.microsoft.com/office/powerpoint/2010/main" val="704613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00;p14" title="MBF_Logo_2020.png">
            <a:extLst>
              <a:ext uri="{FF2B5EF4-FFF2-40B4-BE49-F238E27FC236}">
                <a16:creationId xmlns:a16="http://schemas.microsoft.com/office/drawing/2014/main" id="{B54103FA-BF6F-9975-372C-55CF4C9047B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01;p14" title="VK colored transparent logo.png">
            <a:extLst>
              <a:ext uri="{FF2B5EF4-FFF2-40B4-BE49-F238E27FC236}">
                <a16:creationId xmlns:a16="http://schemas.microsoft.com/office/drawing/2014/main" id="{A1F34839-FB7D-79B0-6B4D-24F2E56123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97;p14">
            <a:extLst>
              <a:ext uri="{FF2B5EF4-FFF2-40B4-BE49-F238E27FC236}">
                <a16:creationId xmlns:a16="http://schemas.microsoft.com/office/drawing/2014/main" id="{7E82A5FB-E171-6DE8-3240-A73494228625}"/>
              </a:ext>
            </a:extLst>
          </p:cNvPr>
          <p:cNvSpPr txBox="1"/>
          <p:nvPr/>
        </p:nvSpPr>
        <p:spPr>
          <a:xfrm>
            <a:off x="656218" y="172593"/>
            <a:ext cx="1098737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Problem Statement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510095-38BE-0FD6-ABCF-E17D4A25FFDF}"/>
              </a:ext>
            </a:extLst>
          </p:cNvPr>
          <p:cNvSpPr txBox="1"/>
          <p:nvPr/>
        </p:nvSpPr>
        <p:spPr>
          <a:xfrm>
            <a:off x="1193200" y="1191721"/>
            <a:ext cx="9805600" cy="4474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Pain Point - </a:t>
            </a:r>
          </a:p>
          <a:p>
            <a:pPr lvl="5"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Low-cost edge controllers in industrial and remote environments can face sensor drift, 	disconnection, abnormal power consumption, and supply instability, creating a need for an 	embedded system that can monitor device and sensor health, distinguish persistent faults from 	temporary abnormalities, and provide an appropriate local response.</a:t>
            </a:r>
          </a:p>
          <a:p>
            <a:pPr lvl="5" algn="just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Beneficiary Segment - 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Small and medium-scale industries, manufacturing systems, smart agriculture, 	environmental 	monitoring, remote infrastructure, and Industrial IoT/edge deployments where continuous 	network connectivity or manual monitoring may not always be available.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207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3D7A745-C369-B181-16ED-467E39AA7DEF}"/>
              </a:ext>
            </a:extLst>
          </p:cNvPr>
          <p:cNvSpPr txBox="1"/>
          <p:nvPr/>
        </p:nvSpPr>
        <p:spPr>
          <a:xfrm>
            <a:off x="379474" y="196710"/>
            <a:ext cx="57165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User Journey – Before State </a:t>
            </a:r>
            <a:endParaRPr lang="en-IN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1F1DC2-3EA3-5F4D-0AA9-6292F6262A01}"/>
              </a:ext>
            </a:extLst>
          </p:cNvPr>
          <p:cNvSpPr txBox="1"/>
          <p:nvPr/>
        </p:nvSpPr>
        <p:spPr>
          <a:xfrm>
            <a:off x="4968240" y="974814"/>
            <a:ext cx="18084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Flowchart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9BC830-4065-19D7-DB17-9C21B41BBC7E}"/>
              </a:ext>
            </a:extLst>
          </p:cNvPr>
          <p:cNvSpPr/>
          <p:nvPr/>
        </p:nvSpPr>
        <p:spPr>
          <a:xfrm>
            <a:off x="1794892" y="1553335"/>
            <a:ext cx="1209040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37D070-5647-62EC-63B2-28E6E979EAE6}"/>
              </a:ext>
            </a:extLst>
          </p:cNvPr>
          <p:cNvSpPr/>
          <p:nvPr/>
        </p:nvSpPr>
        <p:spPr>
          <a:xfrm>
            <a:off x="3326669" y="1547169"/>
            <a:ext cx="1209040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60103D-2E1E-AB73-FB44-6EF4D70B168A}"/>
              </a:ext>
            </a:extLst>
          </p:cNvPr>
          <p:cNvSpPr/>
          <p:nvPr/>
        </p:nvSpPr>
        <p:spPr>
          <a:xfrm>
            <a:off x="4897920" y="1542992"/>
            <a:ext cx="1332063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6C0F2D-E42D-2FBF-4832-97D230C7CD21}"/>
              </a:ext>
            </a:extLst>
          </p:cNvPr>
          <p:cNvSpPr/>
          <p:nvPr/>
        </p:nvSpPr>
        <p:spPr>
          <a:xfrm>
            <a:off x="6592989" y="1517389"/>
            <a:ext cx="1209040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FEDFC21-775A-51A1-9235-5D3C165A7A82}"/>
              </a:ext>
            </a:extLst>
          </p:cNvPr>
          <p:cNvSpPr/>
          <p:nvPr/>
        </p:nvSpPr>
        <p:spPr>
          <a:xfrm>
            <a:off x="8141764" y="1517214"/>
            <a:ext cx="2179478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D667DE-D6E2-6A66-43B5-799B5780A38D}"/>
              </a:ext>
            </a:extLst>
          </p:cNvPr>
          <p:cNvSpPr txBox="1"/>
          <p:nvPr/>
        </p:nvSpPr>
        <p:spPr>
          <a:xfrm>
            <a:off x="7919305" y="1545347"/>
            <a:ext cx="26243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Impact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operation 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Equipment damage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Unplanned downtime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Maintenance risk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12A239-C5EB-9F47-6B3D-89170B8068F1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3003932" y="2225687"/>
            <a:ext cx="322737" cy="61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B85B77-2BE3-CB14-101B-91616B4E7913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4535709" y="2221510"/>
            <a:ext cx="362211" cy="41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16E707D-6A1D-5408-4223-3216F0555C5D}"/>
              </a:ext>
            </a:extLst>
          </p:cNvPr>
          <p:cNvCxnSpPr/>
          <p:nvPr/>
        </p:nvCxnSpPr>
        <p:spPr>
          <a:xfrm flipV="1">
            <a:off x="6253254" y="2221510"/>
            <a:ext cx="362212" cy="41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1D4F114-EA79-8AF6-7551-97002B82E21E}"/>
              </a:ext>
            </a:extLst>
          </p:cNvPr>
          <p:cNvCxnSpPr/>
          <p:nvPr/>
        </p:nvCxnSpPr>
        <p:spPr>
          <a:xfrm flipV="1">
            <a:off x="7779552" y="2175945"/>
            <a:ext cx="362212" cy="41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34C2F41-70F3-0BB6-73F8-5384F66E9AE3}"/>
              </a:ext>
            </a:extLst>
          </p:cNvPr>
          <p:cNvCxnSpPr>
            <a:cxnSpLocks/>
          </p:cNvCxnSpPr>
          <p:nvPr/>
        </p:nvCxnSpPr>
        <p:spPr>
          <a:xfrm>
            <a:off x="5486400" y="1328269"/>
            <a:ext cx="7668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8" name="Google Shape;156;p16" title="MBF_Logo_2020.png">
            <a:extLst>
              <a:ext uri="{FF2B5EF4-FFF2-40B4-BE49-F238E27FC236}">
                <a16:creationId xmlns:a16="http://schemas.microsoft.com/office/drawing/2014/main" id="{7DB092BD-FB00-4365-7C48-68E62C04115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157;p16" title="VK colored transparent logo.png">
            <a:extLst>
              <a:ext uri="{FF2B5EF4-FFF2-40B4-BE49-F238E27FC236}">
                <a16:creationId xmlns:a16="http://schemas.microsoft.com/office/drawing/2014/main" id="{399D61A6-7616-3874-AC0D-CCCE86AC4A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9967519D-E326-1ECB-CADA-3B593B2B1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370666"/>
              </p:ext>
            </p:extLst>
          </p:nvPr>
        </p:nvGraphicFramePr>
        <p:xfrm>
          <a:off x="1648298" y="3605033"/>
          <a:ext cx="8895404" cy="167560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23851">
                  <a:extLst>
                    <a:ext uri="{9D8B030D-6E8A-4147-A177-3AD203B41FA5}">
                      <a16:colId xmlns:a16="http://schemas.microsoft.com/office/drawing/2014/main" val="1795836532"/>
                    </a:ext>
                  </a:extLst>
                </a:gridCol>
                <a:gridCol w="2223851">
                  <a:extLst>
                    <a:ext uri="{9D8B030D-6E8A-4147-A177-3AD203B41FA5}">
                      <a16:colId xmlns:a16="http://schemas.microsoft.com/office/drawing/2014/main" val="857436400"/>
                    </a:ext>
                  </a:extLst>
                </a:gridCol>
                <a:gridCol w="2223851">
                  <a:extLst>
                    <a:ext uri="{9D8B030D-6E8A-4147-A177-3AD203B41FA5}">
                      <a16:colId xmlns:a16="http://schemas.microsoft.com/office/drawing/2014/main" val="2974591524"/>
                    </a:ext>
                  </a:extLst>
                </a:gridCol>
                <a:gridCol w="2223851">
                  <a:extLst>
                    <a:ext uri="{9D8B030D-6E8A-4147-A177-3AD203B41FA5}">
                      <a16:colId xmlns:a16="http://schemas.microsoft.com/office/drawing/2014/main" val="2982878009"/>
                    </a:ext>
                  </a:extLst>
                </a:gridCol>
              </a:tblGrid>
              <a:tr h="620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Fault-Detection Latency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False-Alarm Behaviour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 Overhead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Operational Impact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524184"/>
                  </a:ext>
                </a:extLst>
              </a:tr>
              <a:tr h="10550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taken to recognize an injected fault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 responses to temporary abnormalities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 / RAM / processing cost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 of undetected or delayed faults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31410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D4B46AC8-15DC-F37D-8482-010687BC3180}"/>
              </a:ext>
            </a:extLst>
          </p:cNvPr>
          <p:cNvSpPr txBox="1"/>
          <p:nvPr/>
        </p:nvSpPr>
        <p:spPr>
          <a:xfrm>
            <a:off x="762000" y="5399073"/>
            <a:ext cx="110570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values will be established through controlled fault-injection tests before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SwasthEdge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evaluation.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3EED1C-19C9-761F-C902-790446F794D3}"/>
              </a:ext>
            </a:extLst>
          </p:cNvPr>
          <p:cNvSpPr txBox="1"/>
          <p:nvPr/>
        </p:nvSpPr>
        <p:spPr>
          <a:xfrm>
            <a:off x="1559557" y="3319644"/>
            <a:ext cx="6097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INEFFICIENCY — TO BE ESTABLISHED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E70C05-B19F-D13C-4D77-0A04893CC3A0}"/>
              </a:ext>
            </a:extLst>
          </p:cNvPr>
          <p:cNvSpPr txBox="1"/>
          <p:nvPr/>
        </p:nvSpPr>
        <p:spPr>
          <a:xfrm>
            <a:off x="1884322" y="1805964"/>
            <a:ext cx="11128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Edge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1E292-BD25-F9C3-8C26-2568C867BE1C}"/>
              </a:ext>
            </a:extLst>
          </p:cNvPr>
          <p:cNvSpPr txBox="1"/>
          <p:nvPr/>
        </p:nvSpPr>
        <p:spPr>
          <a:xfrm>
            <a:off x="3295233" y="1720938"/>
            <a:ext cx="13545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500" dirty="0"/>
              <a:t>Sensor / Device Abnormality Occurs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A36069-F201-188D-9797-BFDE6918A1C6}"/>
              </a:ext>
            </a:extLst>
          </p:cNvPr>
          <p:cNvSpPr txBox="1"/>
          <p:nvPr/>
        </p:nvSpPr>
        <p:spPr>
          <a:xfrm>
            <a:off x="4755645" y="1836546"/>
            <a:ext cx="16174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Abnormality Is Difficult to Interpret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5424E-B4F9-98DF-3386-67E7D485EC78}"/>
              </a:ext>
            </a:extLst>
          </p:cNvPr>
          <p:cNvSpPr txBox="1"/>
          <p:nvPr/>
        </p:nvSpPr>
        <p:spPr>
          <a:xfrm>
            <a:off x="6653183" y="1791569"/>
            <a:ext cx="11488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May Remain Undetected</a:t>
            </a:r>
          </a:p>
        </p:txBody>
      </p:sp>
    </p:spTree>
    <p:extLst>
      <p:ext uri="{BB962C8B-B14F-4D97-AF65-F5344CB8AC3E}">
        <p14:creationId xmlns:p14="http://schemas.microsoft.com/office/powerpoint/2010/main" val="73602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56;p16" title="MBF_Logo_2020.png">
            <a:extLst>
              <a:ext uri="{FF2B5EF4-FFF2-40B4-BE49-F238E27FC236}">
                <a16:creationId xmlns:a16="http://schemas.microsoft.com/office/drawing/2014/main" id="{C74AC511-BBAE-A405-2DA9-2EC7405D378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57;p16" title="VK colored transparent logo.png">
            <a:extLst>
              <a:ext uri="{FF2B5EF4-FFF2-40B4-BE49-F238E27FC236}">
                <a16:creationId xmlns:a16="http://schemas.microsoft.com/office/drawing/2014/main" id="{AFE5B14A-D708-55AA-577F-B233BE25FE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41697102-88BA-9401-C484-3CBC330CAEEF}"/>
              </a:ext>
            </a:extLst>
          </p:cNvPr>
          <p:cNvSpPr/>
          <p:nvPr/>
        </p:nvSpPr>
        <p:spPr>
          <a:xfrm>
            <a:off x="2486329" y="773902"/>
            <a:ext cx="1209040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5D9E888-BA22-D4D6-ECB3-D12C306D4015}"/>
              </a:ext>
            </a:extLst>
          </p:cNvPr>
          <p:cNvSpPr txBox="1"/>
          <p:nvPr/>
        </p:nvSpPr>
        <p:spPr>
          <a:xfrm>
            <a:off x="5256038" y="327526"/>
            <a:ext cx="18084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 SemiBold"/>
              </a:rPr>
              <a:t>Flowchart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2B10E95-4A28-6D04-E61F-61FA373E3F02}"/>
              </a:ext>
            </a:extLst>
          </p:cNvPr>
          <p:cNvSpPr txBox="1"/>
          <p:nvPr/>
        </p:nvSpPr>
        <p:spPr>
          <a:xfrm>
            <a:off x="2480534" y="1158106"/>
            <a:ext cx="1209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SwasthEdge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Retrofit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16BDADC3-43EF-0F7C-EFF7-CEE2FB3CB90F}"/>
              </a:ext>
            </a:extLst>
          </p:cNvPr>
          <p:cNvSpPr/>
          <p:nvPr/>
        </p:nvSpPr>
        <p:spPr>
          <a:xfrm>
            <a:off x="3932797" y="797171"/>
            <a:ext cx="1209040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0024C2B7-03DE-B9AC-F35E-0AA3D3FEF236}"/>
              </a:ext>
            </a:extLst>
          </p:cNvPr>
          <p:cNvSpPr/>
          <p:nvPr/>
        </p:nvSpPr>
        <p:spPr>
          <a:xfrm>
            <a:off x="5379821" y="797171"/>
            <a:ext cx="1209040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51B91066-95D9-31F0-3D06-7535A9EF451F}"/>
              </a:ext>
            </a:extLst>
          </p:cNvPr>
          <p:cNvSpPr/>
          <p:nvPr/>
        </p:nvSpPr>
        <p:spPr>
          <a:xfrm>
            <a:off x="6897654" y="797171"/>
            <a:ext cx="1209040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1DCD4932-6745-174C-0FAA-9F2E19F367EA}"/>
              </a:ext>
            </a:extLst>
          </p:cNvPr>
          <p:cNvSpPr/>
          <p:nvPr/>
        </p:nvSpPr>
        <p:spPr>
          <a:xfrm>
            <a:off x="8344678" y="784319"/>
            <a:ext cx="1209040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55A1A72A-4ECF-DDEF-1699-06B144A437F8}"/>
              </a:ext>
            </a:extLst>
          </p:cNvPr>
          <p:cNvSpPr/>
          <p:nvPr/>
        </p:nvSpPr>
        <p:spPr>
          <a:xfrm>
            <a:off x="6381609" y="2401731"/>
            <a:ext cx="2446252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FDE95A26-512D-99C1-08BF-7AB55D79EED6}"/>
              </a:ext>
            </a:extLst>
          </p:cNvPr>
          <p:cNvSpPr/>
          <p:nvPr/>
        </p:nvSpPr>
        <p:spPr>
          <a:xfrm>
            <a:off x="3334323" y="2401731"/>
            <a:ext cx="1209040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0289A544-6B83-D3B0-D95D-AC74B442311F}"/>
              </a:ext>
            </a:extLst>
          </p:cNvPr>
          <p:cNvSpPr/>
          <p:nvPr/>
        </p:nvSpPr>
        <p:spPr>
          <a:xfrm>
            <a:off x="4845260" y="2378424"/>
            <a:ext cx="1209040" cy="135703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16EA536-39A3-7929-2960-BF3C0BFCDA6F}"/>
              </a:ext>
            </a:extLst>
          </p:cNvPr>
          <p:cNvSpPr txBox="1"/>
          <p:nvPr/>
        </p:nvSpPr>
        <p:spPr>
          <a:xfrm>
            <a:off x="3992444" y="1050384"/>
            <a:ext cx="11575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Health Monitoring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9A8E2786-D9F9-48F9-C7EB-1C7D5FE5EF93}"/>
              </a:ext>
            </a:extLst>
          </p:cNvPr>
          <p:cNvSpPr txBox="1"/>
          <p:nvPr/>
        </p:nvSpPr>
        <p:spPr>
          <a:xfrm>
            <a:off x="4901413" y="2620601"/>
            <a:ext cx="1167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Local Response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64809CE-E655-5813-6300-BA8E3D7D52E2}"/>
              </a:ext>
            </a:extLst>
          </p:cNvPr>
          <p:cNvSpPr txBox="1"/>
          <p:nvPr/>
        </p:nvSpPr>
        <p:spPr>
          <a:xfrm>
            <a:off x="3385333" y="2616557"/>
            <a:ext cx="109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Diagnostic Logging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364A88D5-44A5-1F09-A82E-4C5511B680F2}"/>
              </a:ext>
            </a:extLst>
          </p:cNvPr>
          <p:cNvSpPr txBox="1"/>
          <p:nvPr/>
        </p:nvSpPr>
        <p:spPr>
          <a:xfrm>
            <a:off x="6430317" y="2406677"/>
            <a:ext cx="24165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Benefit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Safer operation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Maintenance risk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downtime 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fault awareness </a:t>
            </a:r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C7EDC5A1-9FD3-B76C-4069-A4890262E7C6}"/>
              </a:ext>
            </a:extLst>
          </p:cNvPr>
          <p:cNvCxnSpPr>
            <a:cxnSpLocks/>
          </p:cNvCxnSpPr>
          <p:nvPr/>
        </p:nvCxnSpPr>
        <p:spPr>
          <a:xfrm>
            <a:off x="3689574" y="1443278"/>
            <a:ext cx="2472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25A317C1-C5C9-6446-4D8E-0751FA5C0235}"/>
              </a:ext>
            </a:extLst>
          </p:cNvPr>
          <p:cNvCxnSpPr>
            <a:cxnSpLocks/>
          </p:cNvCxnSpPr>
          <p:nvPr/>
        </p:nvCxnSpPr>
        <p:spPr>
          <a:xfrm>
            <a:off x="5141837" y="1459554"/>
            <a:ext cx="2472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0638C4A8-395E-E984-5DC6-BF63364625CF}"/>
              </a:ext>
            </a:extLst>
          </p:cNvPr>
          <p:cNvCxnSpPr>
            <a:cxnSpLocks/>
            <a:stCxn id="157" idx="3"/>
            <a:endCxn id="158" idx="1"/>
          </p:cNvCxnSpPr>
          <p:nvPr/>
        </p:nvCxnSpPr>
        <p:spPr>
          <a:xfrm>
            <a:off x="6588861" y="1475689"/>
            <a:ext cx="3087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FF7B8097-6ABE-D461-C0C1-7E62383FC8DC}"/>
              </a:ext>
            </a:extLst>
          </p:cNvPr>
          <p:cNvCxnSpPr>
            <a:cxnSpLocks/>
            <a:endCxn id="159" idx="1"/>
          </p:cNvCxnSpPr>
          <p:nvPr/>
        </p:nvCxnSpPr>
        <p:spPr>
          <a:xfrm>
            <a:off x="8123797" y="1459554"/>
            <a:ext cx="220881" cy="32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EC8652F4-B988-1023-F245-7F95453F4355}"/>
              </a:ext>
            </a:extLst>
          </p:cNvPr>
          <p:cNvSpPr txBox="1"/>
          <p:nvPr/>
        </p:nvSpPr>
        <p:spPr>
          <a:xfrm>
            <a:off x="2590439" y="6073681"/>
            <a:ext cx="6776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reactive detection to locally confirmed, self-diagnosing operation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19DBA7-616A-718B-F465-48B9FE2C8E58}"/>
              </a:ext>
            </a:extLst>
          </p:cNvPr>
          <p:cNvCxnSpPr>
            <a:cxnSpLocks/>
          </p:cNvCxnSpPr>
          <p:nvPr/>
        </p:nvCxnSpPr>
        <p:spPr>
          <a:xfrm>
            <a:off x="5775649" y="665684"/>
            <a:ext cx="8074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BFAB580-F00C-01AC-51FB-5DFC4ACB2F96}"/>
              </a:ext>
            </a:extLst>
          </p:cNvPr>
          <p:cNvCxnSpPr>
            <a:cxnSpLocks/>
          </p:cNvCxnSpPr>
          <p:nvPr/>
        </p:nvCxnSpPr>
        <p:spPr>
          <a:xfrm>
            <a:off x="4558667" y="3064111"/>
            <a:ext cx="2865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39F9E2-DE84-160F-43DF-82E54FF4BCDC}"/>
              </a:ext>
            </a:extLst>
          </p:cNvPr>
          <p:cNvCxnSpPr>
            <a:cxnSpLocks/>
          </p:cNvCxnSpPr>
          <p:nvPr/>
        </p:nvCxnSpPr>
        <p:spPr>
          <a:xfrm flipV="1">
            <a:off x="3085054" y="3079344"/>
            <a:ext cx="244753" cy="3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A23F9A8-873D-8DB9-A987-10FC3EABA713}"/>
              </a:ext>
            </a:extLst>
          </p:cNvPr>
          <p:cNvCxnSpPr>
            <a:cxnSpLocks/>
            <a:stCxn id="159" idx="3"/>
          </p:cNvCxnSpPr>
          <p:nvPr/>
        </p:nvCxnSpPr>
        <p:spPr>
          <a:xfrm flipV="1">
            <a:off x="9553718" y="1459554"/>
            <a:ext cx="289618" cy="32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8216A49-2AA2-C00E-0708-316D23062EC9}"/>
              </a:ext>
            </a:extLst>
          </p:cNvPr>
          <p:cNvCxnSpPr>
            <a:cxnSpLocks/>
          </p:cNvCxnSpPr>
          <p:nvPr/>
        </p:nvCxnSpPr>
        <p:spPr>
          <a:xfrm>
            <a:off x="9843336" y="1459554"/>
            <a:ext cx="0" cy="8637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BE92C317-594A-C2C7-5D0A-3B63ECA9A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61245"/>
              </p:ext>
            </p:extLst>
          </p:nvPr>
        </p:nvGraphicFramePr>
        <p:xfrm>
          <a:off x="1447374" y="4223351"/>
          <a:ext cx="9297252" cy="152716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24313">
                  <a:extLst>
                    <a:ext uri="{9D8B030D-6E8A-4147-A177-3AD203B41FA5}">
                      <a16:colId xmlns:a16="http://schemas.microsoft.com/office/drawing/2014/main" val="3719597409"/>
                    </a:ext>
                  </a:extLst>
                </a:gridCol>
                <a:gridCol w="2324313">
                  <a:extLst>
                    <a:ext uri="{9D8B030D-6E8A-4147-A177-3AD203B41FA5}">
                      <a16:colId xmlns:a16="http://schemas.microsoft.com/office/drawing/2014/main" val="4256535812"/>
                    </a:ext>
                  </a:extLst>
                </a:gridCol>
                <a:gridCol w="2324313">
                  <a:extLst>
                    <a:ext uri="{9D8B030D-6E8A-4147-A177-3AD203B41FA5}">
                      <a16:colId xmlns:a16="http://schemas.microsoft.com/office/drawing/2014/main" val="2879203902"/>
                    </a:ext>
                  </a:extLst>
                </a:gridCol>
                <a:gridCol w="2324313">
                  <a:extLst>
                    <a:ext uri="{9D8B030D-6E8A-4147-A177-3AD203B41FA5}">
                      <a16:colId xmlns:a16="http://schemas.microsoft.com/office/drawing/2014/main" val="3823560955"/>
                    </a:ext>
                  </a:extLst>
                </a:gridCol>
              </a:tblGrid>
              <a:tr h="5146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Fault-Detection Latency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Fault-Confirmation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 &amp; Power Overhead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Response &amp; Continuity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404632"/>
                  </a:ext>
                </a:extLst>
              </a:tr>
              <a:tr h="9480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from fault injection to local detection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Ability to distinguish persistent faults from temporary abnormalities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 / RAM / processing latency / additional power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 state and diagnostic retention during network loss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786872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16A416BB-F970-05DD-7AD9-F10B64A00944}"/>
              </a:ext>
            </a:extLst>
          </p:cNvPr>
          <p:cNvSpPr txBox="1"/>
          <p:nvPr/>
        </p:nvSpPr>
        <p:spPr>
          <a:xfrm>
            <a:off x="1282349" y="5822984"/>
            <a:ext cx="10361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SwasthEdge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will be compared with sensor-only detection using controlled fault-injection tests.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D48687-1033-F451-7F1B-F55A12E40D46}"/>
              </a:ext>
            </a:extLst>
          </p:cNvPr>
          <p:cNvSpPr txBox="1"/>
          <p:nvPr/>
        </p:nvSpPr>
        <p:spPr>
          <a:xfrm>
            <a:off x="1372945" y="3927883"/>
            <a:ext cx="6097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METRICS — TO BE BENCHMARKED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90548BA-1E40-6BC7-AD53-60B30C750F77}"/>
              </a:ext>
            </a:extLst>
          </p:cNvPr>
          <p:cNvCxnSpPr>
            <a:cxnSpLocks/>
          </p:cNvCxnSpPr>
          <p:nvPr/>
        </p:nvCxnSpPr>
        <p:spPr>
          <a:xfrm flipH="1">
            <a:off x="3085054" y="2323322"/>
            <a:ext cx="67582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CAFD3E9-C41F-858B-DB78-65A5E5D17481}"/>
              </a:ext>
            </a:extLst>
          </p:cNvPr>
          <p:cNvCxnSpPr>
            <a:cxnSpLocks/>
          </p:cNvCxnSpPr>
          <p:nvPr/>
        </p:nvCxnSpPr>
        <p:spPr>
          <a:xfrm>
            <a:off x="6082665" y="3064111"/>
            <a:ext cx="2856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2B6BB8E-F441-2817-9E65-07D10CE2B706}"/>
              </a:ext>
            </a:extLst>
          </p:cNvPr>
          <p:cNvCxnSpPr>
            <a:cxnSpLocks/>
          </p:cNvCxnSpPr>
          <p:nvPr/>
        </p:nvCxnSpPr>
        <p:spPr>
          <a:xfrm>
            <a:off x="3085054" y="2323322"/>
            <a:ext cx="0" cy="7560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1D744303-009B-9484-2554-670FA8E74D02}"/>
              </a:ext>
            </a:extLst>
          </p:cNvPr>
          <p:cNvSpPr txBox="1"/>
          <p:nvPr/>
        </p:nvSpPr>
        <p:spPr>
          <a:xfrm>
            <a:off x="145669" y="96038"/>
            <a:ext cx="57165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User Journey – After State 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4E5BC1C-7448-321D-4610-014F5F010E4D}"/>
              </a:ext>
            </a:extLst>
          </p:cNvPr>
          <p:cNvSpPr txBox="1"/>
          <p:nvPr/>
        </p:nvSpPr>
        <p:spPr>
          <a:xfrm>
            <a:off x="5374026" y="1027780"/>
            <a:ext cx="1209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Detection &amp; Analysis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C535420-EFF5-4AB4-41F3-2D7A8E5783C8}"/>
              </a:ext>
            </a:extLst>
          </p:cNvPr>
          <p:cNvSpPr txBox="1"/>
          <p:nvPr/>
        </p:nvSpPr>
        <p:spPr>
          <a:xfrm>
            <a:off x="6969330" y="952764"/>
            <a:ext cx="11379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Fusion &amp; Fault Confidence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CC86538-1951-2D84-A340-978CCAB00B3E}"/>
              </a:ext>
            </a:extLst>
          </p:cNvPr>
          <p:cNvSpPr txBox="1"/>
          <p:nvPr/>
        </p:nvSpPr>
        <p:spPr>
          <a:xfrm>
            <a:off x="8515560" y="1050384"/>
            <a:ext cx="9090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State Decision</a:t>
            </a:r>
          </a:p>
        </p:txBody>
      </p:sp>
    </p:spTree>
    <p:extLst>
      <p:ext uri="{BB962C8B-B14F-4D97-AF65-F5344CB8AC3E}">
        <p14:creationId xmlns:p14="http://schemas.microsoft.com/office/powerpoint/2010/main" val="185009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4;p17">
            <a:extLst>
              <a:ext uri="{FF2B5EF4-FFF2-40B4-BE49-F238E27FC236}">
                <a16:creationId xmlns:a16="http://schemas.microsoft.com/office/drawing/2014/main" id="{13B7619D-4314-3BAB-BBE5-59DBCBB5CF60}"/>
              </a:ext>
            </a:extLst>
          </p:cNvPr>
          <p:cNvSpPr txBox="1"/>
          <p:nvPr/>
        </p:nvSpPr>
        <p:spPr>
          <a:xfrm>
            <a:off x="3889014" y="77725"/>
            <a:ext cx="470962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Block Diagram</a:t>
            </a:r>
            <a:endParaRPr lang="en-IN" sz="36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ounded Rectangle 3">
            <a:extLst>
              <a:ext uri="{FF2B5EF4-FFF2-40B4-BE49-F238E27FC236}">
                <a16:creationId xmlns:a16="http://schemas.microsoft.com/office/drawing/2014/main" id="{AFCB5714-8C4B-D41A-0453-B6DBADA0BDA9}"/>
              </a:ext>
            </a:extLst>
          </p:cNvPr>
          <p:cNvSpPr/>
          <p:nvPr/>
        </p:nvSpPr>
        <p:spPr>
          <a:xfrm>
            <a:off x="188976" y="826693"/>
            <a:ext cx="2852928" cy="102412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tIns="54864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HEALTH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SHT31 • Temperature / humidity
EWMA / CUSUM • Range • Drift</a:t>
            </a:r>
          </a:p>
        </p:txBody>
      </p:sp>
      <p:sp>
        <p:nvSpPr>
          <p:cNvPr id="49" name="Rounded Rectangle 4">
            <a:extLst>
              <a:ext uri="{FF2B5EF4-FFF2-40B4-BE49-F238E27FC236}">
                <a16:creationId xmlns:a16="http://schemas.microsoft.com/office/drawing/2014/main" id="{7EA3D5A3-AF48-0CAE-BEB1-E5BB36BD6196}"/>
              </a:ext>
            </a:extLst>
          </p:cNvPr>
          <p:cNvSpPr/>
          <p:nvPr/>
        </p:nvSpPr>
        <p:spPr>
          <a:xfrm>
            <a:off x="3179064" y="826693"/>
            <a:ext cx="2852928" cy="102412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tIns="54864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HEALTH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INA226 • Voltage / Current / Power
Shunt resistor • Voltage divider</a:t>
            </a:r>
          </a:p>
        </p:txBody>
      </p:sp>
      <p:sp>
        <p:nvSpPr>
          <p:cNvPr id="50" name="Rounded Rectangle 5">
            <a:extLst>
              <a:ext uri="{FF2B5EF4-FFF2-40B4-BE49-F238E27FC236}">
                <a16:creationId xmlns:a16="http://schemas.microsoft.com/office/drawing/2014/main" id="{EC9A898A-C12F-273D-33BD-DCF8639F370F}"/>
              </a:ext>
            </a:extLst>
          </p:cNvPr>
          <p:cNvSpPr/>
          <p:nvPr/>
        </p:nvSpPr>
        <p:spPr>
          <a:xfrm>
            <a:off x="6169152" y="826693"/>
            <a:ext cx="2852928" cy="102412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tIns="54864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 HEALTH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MCU temperature • Resets
Watchdog status • Communication errors</a:t>
            </a:r>
          </a:p>
        </p:txBody>
      </p:sp>
      <p:sp>
        <p:nvSpPr>
          <p:cNvPr id="51" name="Rounded Rectangle 6">
            <a:extLst>
              <a:ext uri="{FF2B5EF4-FFF2-40B4-BE49-F238E27FC236}">
                <a16:creationId xmlns:a16="http://schemas.microsoft.com/office/drawing/2014/main" id="{8E890E68-CFF9-C58B-C1AA-CB1D364C911D}"/>
              </a:ext>
            </a:extLst>
          </p:cNvPr>
          <p:cNvSpPr/>
          <p:nvPr/>
        </p:nvSpPr>
        <p:spPr>
          <a:xfrm>
            <a:off x="9159240" y="826693"/>
            <a:ext cx="2852928" cy="102412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tIns="54864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FAULT INJECTION RIG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potentiometer • MOSFETs / relays
Sensor &amp; electrical fault simulation</a:t>
            </a:r>
          </a:p>
        </p:txBody>
      </p:sp>
      <p:sp>
        <p:nvSpPr>
          <p:cNvPr id="52" name="Rounded Rectangle 7">
            <a:extLst>
              <a:ext uri="{FF2B5EF4-FFF2-40B4-BE49-F238E27FC236}">
                <a16:creationId xmlns:a16="http://schemas.microsoft.com/office/drawing/2014/main" id="{7CF1B8AA-6402-FBF1-A072-6ED586483090}"/>
              </a:ext>
            </a:extLst>
          </p:cNvPr>
          <p:cNvSpPr/>
          <p:nvPr/>
        </p:nvSpPr>
        <p:spPr>
          <a:xfrm>
            <a:off x="3115056" y="2129713"/>
            <a:ext cx="6190488" cy="3127248"/>
          </a:xfrm>
          <a:prstGeom prst="roundRect">
            <a:avLst/>
          </a:prstGeom>
          <a:solidFill>
            <a:srgbClr val="F7FAFE"/>
          </a:solidFill>
          <a:ln w="2286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AFD888-4174-F8E0-3ED2-4C071219CCB0}"/>
              </a:ext>
            </a:extLst>
          </p:cNvPr>
          <p:cNvSpPr txBox="1"/>
          <p:nvPr/>
        </p:nvSpPr>
        <p:spPr>
          <a:xfrm>
            <a:off x="3026664" y="2200686"/>
            <a:ext cx="6309359" cy="307777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STM32F446RE MICROCONTROLLER </a:t>
            </a:r>
          </a:p>
        </p:txBody>
      </p:sp>
      <p:sp>
        <p:nvSpPr>
          <p:cNvPr id="54" name="Rounded Rectangle 9">
            <a:extLst>
              <a:ext uri="{FF2B5EF4-FFF2-40B4-BE49-F238E27FC236}">
                <a16:creationId xmlns:a16="http://schemas.microsoft.com/office/drawing/2014/main" id="{18D586E5-4D7A-A82D-811B-3F70DD87E022}"/>
              </a:ext>
            </a:extLst>
          </p:cNvPr>
          <p:cNvSpPr/>
          <p:nvPr/>
        </p:nvSpPr>
        <p:spPr>
          <a:xfrm>
            <a:off x="3535679" y="2477970"/>
            <a:ext cx="5349240" cy="56692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73152" tIns="54864" rIns="73152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• Variance • Slope • RMS • EWMA • CUSUM • Cross-correlation</a:t>
            </a:r>
          </a:p>
        </p:txBody>
      </p:sp>
      <p:sp>
        <p:nvSpPr>
          <p:cNvPr id="55" name="Rounded Rectangle 10">
            <a:extLst>
              <a:ext uri="{FF2B5EF4-FFF2-40B4-BE49-F238E27FC236}">
                <a16:creationId xmlns:a16="http://schemas.microsoft.com/office/drawing/2014/main" id="{92409DBB-5CB3-795A-336E-9265E732433D}"/>
              </a:ext>
            </a:extLst>
          </p:cNvPr>
          <p:cNvSpPr/>
          <p:nvPr/>
        </p:nvSpPr>
        <p:spPr>
          <a:xfrm>
            <a:off x="3529584" y="3163770"/>
            <a:ext cx="5349240" cy="56692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73152" tIns="54864" rIns="73152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TINYML INFERENCE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Autoencoder + Random Forest • int8 quantization • TensorFlow Lite Micro</a:t>
            </a:r>
          </a:p>
        </p:txBody>
      </p:sp>
      <p:sp>
        <p:nvSpPr>
          <p:cNvPr id="56" name="Rounded Rectangle 11">
            <a:extLst>
              <a:ext uri="{FF2B5EF4-FFF2-40B4-BE49-F238E27FC236}">
                <a16:creationId xmlns:a16="http://schemas.microsoft.com/office/drawing/2014/main" id="{F978BD11-45BA-B9BC-3098-B5FCF16E0DCD}"/>
              </a:ext>
            </a:extLst>
          </p:cNvPr>
          <p:cNvSpPr/>
          <p:nvPr/>
        </p:nvSpPr>
        <p:spPr>
          <a:xfrm>
            <a:off x="3529584" y="3850679"/>
            <a:ext cx="5349240" cy="56692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73152" tIns="54864" rIns="73152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 FUSION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Multi-parameter weighted fusion • Confidence score (0–100%)</a:t>
            </a:r>
          </a:p>
        </p:txBody>
      </p:sp>
      <p:sp>
        <p:nvSpPr>
          <p:cNvPr id="57" name="Rounded Rectangle 12">
            <a:extLst>
              <a:ext uri="{FF2B5EF4-FFF2-40B4-BE49-F238E27FC236}">
                <a16:creationId xmlns:a16="http://schemas.microsoft.com/office/drawing/2014/main" id="{84D5BDD8-C07B-3EDC-7F23-8FEE5C4E3668}"/>
              </a:ext>
            </a:extLst>
          </p:cNvPr>
          <p:cNvSpPr/>
          <p:nvPr/>
        </p:nvSpPr>
        <p:spPr>
          <a:xfrm>
            <a:off x="3529584" y="4531907"/>
            <a:ext cx="5349240" cy="56692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73152" tIns="54864" rIns="73152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MACHINE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 →  Warning  →  Degraded  →  Critical</a:t>
            </a:r>
          </a:p>
        </p:txBody>
      </p:sp>
      <p:cxnSp>
        <p:nvCxnSpPr>
          <p:cNvPr id="58" name="Connector 13">
            <a:extLst>
              <a:ext uri="{FF2B5EF4-FFF2-40B4-BE49-F238E27FC236}">
                <a16:creationId xmlns:a16="http://schemas.microsoft.com/office/drawing/2014/main" id="{F697DA76-6E2E-AB08-AA0F-67863D677523}"/>
              </a:ext>
            </a:extLst>
          </p:cNvPr>
          <p:cNvCxnSpPr/>
          <p:nvPr/>
        </p:nvCxnSpPr>
        <p:spPr>
          <a:xfrm>
            <a:off x="1615440" y="1850821"/>
            <a:ext cx="0" cy="128016"/>
          </a:xfrm>
          <a:prstGeom prst="line">
            <a:avLst/>
          </a:prstGeom>
          <a:ln w="14604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14">
            <a:extLst>
              <a:ext uri="{FF2B5EF4-FFF2-40B4-BE49-F238E27FC236}">
                <a16:creationId xmlns:a16="http://schemas.microsoft.com/office/drawing/2014/main" id="{A312A565-7083-A044-8262-B5192216AFDA}"/>
              </a:ext>
            </a:extLst>
          </p:cNvPr>
          <p:cNvCxnSpPr>
            <a:cxnSpLocks/>
          </p:cNvCxnSpPr>
          <p:nvPr/>
        </p:nvCxnSpPr>
        <p:spPr>
          <a:xfrm>
            <a:off x="1615440" y="1978837"/>
            <a:ext cx="2054352" cy="0"/>
          </a:xfrm>
          <a:prstGeom prst="line">
            <a:avLst/>
          </a:prstGeom>
          <a:ln w="14604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15">
            <a:extLst>
              <a:ext uri="{FF2B5EF4-FFF2-40B4-BE49-F238E27FC236}">
                <a16:creationId xmlns:a16="http://schemas.microsoft.com/office/drawing/2014/main" id="{BA0676EA-7D1A-3F8A-A223-2EF81854EBA3}"/>
              </a:ext>
            </a:extLst>
          </p:cNvPr>
          <p:cNvCxnSpPr/>
          <p:nvPr/>
        </p:nvCxnSpPr>
        <p:spPr>
          <a:xfrm>
            <a:off x="3669792" y="1978837"/>
            <a:ext cx="0" cy="14630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Connector 18">
            <a:extLst>
              <a:ext uri="{FF2B5EF4-FFF2-40B4-BE49-F238E27FC236}">
                <a16:creationId xmlns:a16="http://schemas.microsoft.com/office/drawing/2014/main" id="{290FAF15-8A4E-4B85-E550-CD444289C1E2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4605528" y="1850821"/>
            <a:ext cx="0" cy="27432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Connector 19">
            <a:extLst>
              <a:ext uri="{FF2B5EF4-FFF2-40B4-BE49-F238E27FC236}">
                <a16:creationId xmlns:a16="http://schemas.microsoft.com/office/drawing/2014/main" id="{65826685-A5C6-8861-275B-62310F4D0533}"/>
              </a:ext>
            </a:extLst>
          </p:cNvPr>
          <p:cNvCxnSpPr>
            <a:cxnSpLocks/>
          </p:cNvCxnSpPr>
          <p:nvPr/>
        </p:nvCxnSpPr>
        <p:spPr>
          <a:xfrm>
            <a:off x="7595616" y="1850821"/>
            <a:ext cx="0" cy="27432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Connector 22">
            <a:extLst>
              <a:ext uri="{FF2B5EF4-FFF2-40B4-BE49-F238E27FC236}">
                <a16:creationId xmlns:a16="http://schemas.microsoft.com/office/drawing/2014/main" id="{2A31D7F3-12AE-9453-7369-ECDDF5F7B058}"/>
              </a:ext>
            </a:extLst>
          </p:cNvPr>
          <p:cNvCxnSpPr/>
          <p:nvPr/>
        </p:nvCxnSpPr>
        <p:spPr>
          <a:xfrm>
            <a:off x="10585704" y="1850821"/>
            <a:ext cx="0" cy="128016"/>
          </a:xfrm>
          <a:prstGeom prst="line">
            <a:avLst/>
          </a:prstGeom>
          <a:ln w="14604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23">
            <a:extLst>
              <a:ext uri="{FF2B5EF4-FFF2-40B4-BE49-F238E27FC236}">
                <a16:creationId xmlns:a16="http://schemas.microsoft.com/office/drawing/2014/main" id="{EFD7DFF6-194D-26EB-6C8B-7B2C90B74CF5}"/>
              </a:ext>
            </a:extLst>
          </p:cNvPr>
          <p:cNvCxnSpPr>
            <a:cxnSpLocks/>
          </p:cNvCxnSpPr>
          <p:nvPr/>
        </p:nvCxnSpPr>
        <p:spPr>
          <a:xfrm flipH="1">
            <a:off x="8648108" y="1978837"/>
            <a:ext cx="1937596" cy="0"/>
          </a:xfrm>
          <a:prstGeom prst="line">
            <a:avLst/>
          </a:prstGeom>
          <a:ln w="14604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24">
            <a:extLst>
              <a:ext uri="{FF2B5EF4-FFF2-40B4-BE49-F238E27FC236}">
                <a16:creationId xmlns:a16="http://schemas.microsoft.com/office/drawing/2014/main" id="{9C5F2645-354D-F5DF-C004-BF39157932EF}"/>
              </a:ext>
            </a:extLst>
          </p:cNvPr>
          <p:cNvCxnSpPr/>
          <p:nvPr/>
        </p:nvCxnSpPr>
        <p:spPr>
          <a:xfrm>
            <a:off x="8648108" y="1978837"/>
            <a:ext cx="0" cy="14630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Connector 25">
            <a:extLst>
              <a:ext uri="{FF2B5EF4-FFF2-40B4-BE49-F238E27FC236}">
                <a16:creationId xmlns:a16="http://schemas.microsoft.com/office/drawing/2014/main" id="{FB23EC5E-6438-EFCA-644D-61EC8F7CAD85}"/>
              </a:ext>
            </a:extLst>
          </p:cNvPr>
          <p:cNvCxnSpPr/>
          <p:nvPr/>
        </p:nvCxnSpPr>
        <p:spPr>
          <a:xfrm>
            <a:off x="6205728" y="3054042"/>
            <a:ext cx="0" cy="10972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Connector 26">
            <a:extLst>
              <a:ext uri="{FF2B5EF4-FFF2-40B4-BE49-F238E27FC236}">
                <a16:creationId xmlns:a16="http://schemas.microsoft.com/office/drawing/2014/main" id="{5B5A583B-2BC8-6BB1-A995-88C8653E8F5A}"/>
              </a:ext>
            </a:extLst>
          </p:cNvPr>
          <p:cNvCxnSpPr/>
          <p:nvPr/>
        </p:nvCxnSpPr>
        <p:spPr>
          <a:xfrm>
            <a:off x="6169152" y="3740951"/>
            <a:ext cx="0" cy="10972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Connector 27">
            <a:extLst>
              <a:ext uri="{FF2B5EF4-FFF2-40B4-BE49-F238E27FC236}">
                <a16:creationId xmlns:a16="http://schemas.microsoft.com/office/drawing/2014/main" id="{16AA6FBB-FDA3-FEE6-CDA6-4258BD5FE60B}"/>
              </a:ext>
            </a:extLst>
          </p:cNvPr>
          <p:cNvCxnSpPr/>
          <p:nvPr/>
        </p:nvCxnSpPr>
        <p:spPr>
          <a:xfrm>
            <a:off x="6182868" y="4422179"/>
            <a:ext cx="0" cy="10972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3" name="Rounded Rectangle 28">
            <a:extLst>
              <a:ext uri="{FF2B5EF4-FFF2-40B4-BE49-F238E27FC236}">
                <a16:creationId xmlns:a16="http://schemas.microsoft.com/office/drawing/2014/main" id="{BE337C7B-B46E-B9B3-961F-FBBFA105BCA0}"/>
              </a:ext>
            </a:extLst>
          </p:cNvPr>
          <p:cNvSpPr/>
          <p:nvPr/>
        </p:nvSpPr>
        <p:spPr>
          <a:xfrm>
            <a:off x="9470136" y="2970961"/>
            <a:ext cx="2542032" cy="118872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tIns="54864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HARDWARE WATCHDOG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TPS3813K33
Independent hardware reset if firmware hangs
Connection: NRST</a:t>
            </a:r>
          </a:p>
        </p:txBody>
      </p:sp>
      <p:cxnSp>
        <p:nvCxnSpPr>
          <p:cNvPr id="74" name="Connector 29">
            <a:extLst>
              <a:ext uri="{FF2B5EF4-FFF2-40B4-BE49-F238E27FC236}">
                <a16:creationId xmlns:a16="http://schemas.microsoft.com/office/drawing/2014/main" id="{045B6FDB-9869-6CE8-AAD1-356A347B22A1}"/>
              </a:ext>
            </a:extLst>
          </p:cNvPr>
          <p:cNvCxnSpPr>
            <a:cxnSpLocks/>
            <a:stCxn id="73" idx="1"/>
          </p:cNvCxnSpPr>
          <p:nvPr/>
        </p:nvCxnSpPr>
        <p:spPr>
          <a:xfrm flipH="1">
            <a:off x="9293352" y="3565321"/>
            <a:ext cx="176784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5" name="Rounded Rectangle 30">
            <a:extLst>
              <a:ext uri="{FF2B5EF4-FFF2-40B4-BE49-F238E27FC236}">
                <a16:creationId xmlns:a16="http://schemas.microsoft.com/office/drawing/2014/main" id="{BF5EF14A-507B-BEAE-6D88-EAA4A90A3A8D}"/>
              </a:ext>
            </a:extLst>
          </p:cNvPr>
          <p:cNvSpPr/>
          <p:nvPr/>
        </p:nvSpPr>
        <p:spPr>
          <a:xfrm>
            <a:off x="188976" y="5544299"/>
            <a:ext cx="2697480" cy="713232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64008" tIns="54864" rIns="64008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OLED • Status LEDs
Normal / Warning / Fault</a:t>
            </a:r>
          </a:p>
        </p:txBody>
      </p:sp>
      <p:sp>
        <p:nvSpPr>
          <p:cNvPr id="76" name="Rounded Rectangle 31">
            <a:extLst>
              <a:ext uri="{FF2B5EF4-FFF2-40B4-BE49-F238E27FC236}">
                <a16:creationId xmlns:a16="http://schemas.microsoft.com/office/drawing/2014/main" id="{557B1715-DFC1-A6C8-D2D5-8B7E7E8156D0}"/>
              </a:ext>
            </a:extLst>
          </p:cNvPr>
          <p:cNvSpPr/>
          <p:nvPr/>
        </p:nvSpPr>
        <p:spPr>
          <a:xfrm>
            <a:off x="3142488" y="5544299"/>
            <a:ext cx="2697480" cy="713232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64008" tIns="54864" rIns="64008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RESPONSE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Relay trip • Fault isolation
Safe fallback mode</a:t>
            </a:r>
          </a:p>
        </p:txBody>
      </p:sp>
      <p:sp>
        <p:nvSpPr>
          <p:cNvPr id="77" name="Rounded Rectangle 32">
            <a:extLst>
              <a:ext uri="{FF2B5EF4-FFF2-40B4-BE49-F238E27FC236}">
                <a16:creationId xmlns:a16="http://schemas.microsoft.com/office/drawing/2014/main" id="{1DF4EF26-AA06-8372-38E5-963A401536B3}"/>
              </a:ext>
            </a:extLst>
          </p:cNvPr>
          <p:cNvSpPr/>
          <p:nvPr/>
        </p:nvSpPr>
        <p:spPr>
          <a:xfrm>
            <a:off x="6181344" y="5551080"/>
            <a:ext cx="2697480" cy="713232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64008" tIns="54864" rIns="64008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LOGGING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MicroSD • W25Q64 SPI Flash
RTC timestamps • Event / fault logs</a:t>
            </a:r>
          </a:p>
        </p:txBody>
      </p:sp>
      <p:sp>
        <p:nvSpPr>
          <p:cNvPr id="78" name="Rounded Rectangle 33">
            <a:extLst>
              <a:ext uri="{FF2B5EF4-FFF2-40B4-BE49-F238E27FC236}">
                <a16:creationId xmlns:a16="http://schemas.microsoft.com/office/drawing/2014/main" id="{573BC0E9-FA0C-AEF3-2395-796DDF000DE2}"/>
              </a:ext>
            </a:extLst>
          </p:cNvPr>
          <p:cNvSpPr/>
          <p:nvPr/>
        </p:nvSpPr>
        <p:spPr>
          <a:xfrm>
            <a:off x="9159240" y="5544299"/>
            <a:ext cx="2697480" cy="713232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64008" tIns="54864" rIns="64008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MAX13487EESA • RS485 / Modbus RTU
Fleet aggregation (target up to 1200 m)</a:t>
            </a:r>
          </a:p>
        </p:txBody>
      </p:sp>
      <p:cxnSp>
        <p:nvCxnSpPr>
          <p:cNvPr id="80" name="Connector 35">
            <a:extLst>
              <a:ext uri="{FF2B5EF4-FFF2-40B4-BE49-F238E27FC236}">
                <a16:creationId xmlns:a16="http://schemas.microsoft.com/office/drawing/2014/main" id="{32D9DBD4-6F35-355C-1D21-833F267E84C9}"/>
              </a:ext>
            </a:extLst>
          </p:cNvPr>
          <p:cNvCxnSpPr>
            <a:cxnSpLocks/>
          </p:cNvCxnSpPr>
          <p:nvPr/>
        </p:nvCxnSpPr>
        <p:spPr>
          <a:xfrm>
            <a:off x="1533144" y="5371261"/>
            <a:ext cx="8974836" cy="4572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36">
            <a:extLst>
              <a:ext uri="{FF2B5EF4-FFF2-40B4-BE49-F238E27FC236}">
                <a16:creationId xmlns:a16="http://schemas.microsoft.com/office/drawing/2014/main" id="{696B5C0E-727D-4CD2-FA1D-F8E467C1F3B3}"/>
              </a:ext>
            </a:extLst>
          </p:cNvPr>
          <p:cNvCxnSpPr>
            <a:cxnSpLocks/>
            <a:endCxn id="75" idx="0"/>
          </p:cNvCxnSpPr>
          <p:nvPr/>
        </p:nvCxnSpPr>
        <p:spPr>
          <a:xfrm>
            <a:off x="1537716" y="5371261"/>
            <a:ext cx="0" cy="17303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Connector 37">
            <a:extLst>
              <a:ext uri="{FF2B5EF4-FFF2-40B4-BE49-F238E27FC236}">
                <a16:creationId xmlns:a16="http://schemas.microsoft.com/office/drawing/2014/main" id="{2E733629-5E3E-7217-733C-7862A0DC2CF5}"/>
              </a:ext>
            </a:extLst>
          </p:cNvPr>
          <p:cNvCxnSpPr>
            <a:cxnSpLocks/>
            <a:endCxn id="76" idx="0"/>
          </p:cNvCxnSpPr>
          <p:nvPr/>
        </p:nvCxnSpPr>
        <p:spPr>
          <a:xfrm>
            <a:off x="4491228" y="5371261"/>
            <a:ext cx="0" cy="17303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Connector 38">
            <a:extLst>
              <a:ext uri="{FF2B5EF4-FFF2-40B4-BE49-F238E27FC236}">
                <a16:creationId xmlns:a16="http://schemas.microsoft.com/office/drawing/2014/main" id="{698D0901-56F9-2408-8215-1D53FE02A5CF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7530084" y="5371261"/>
            <a:ext cx="0" cy="17981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4" name="Connector 39">
            <a:extLst>
              <a:ext uri="{FF2B5EF4-FFF2-40B4-BE49-F238E27FC236}">
                <a16:creationId xmlns:a16="http://schemas.microsoft.com/office/drawing/2014/main" id="{C28FC6BC-927A-644B-1A80-91D76DB235F4}"/>
              </a:ext>
            </a:extLst>
          </p:cNvPr>
          <p:cNvCxnSpPr>
            <a:cxnSpLocks/>
            <a:endCxn id="78" idx="0"/>
          </p:cNvCxnSpPr>
          <p:nvPr/>
        </p:nvCxnSpPr>
        <p:spPr>
          <a:xfrm>
            <a:off x="10507980" y="5371260"/>
            <a:ext cx="0" cy="17303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5" name="Rounded Rectangle 40">
            <a:extLst>
              <a:ext uri="{FF2B5EF4-FFF2-40B4-BE49-F238E27FC236}">
                <a16:creationId xmlns:a16="http://schemas.microsoft.com/office/drawing/2014/main" id="{1340BAF2-7F2B-5365-3155-6949DFC90FBF}"/>
              </a:ext>
            </a:extLst>
          </p:cNvPr>
          <p:cNvSpPr/>
          <p:nvPr/>
        </p:nvSpPr>
        <p:spPr>
          <a:xfrm>
            <a:off x="299847" y="2604414"/>
            <a:ext cx="2466594" cy="2219114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73152" tIns="54864" rIns="73152" bIns="36576" rtlCol="0" anchor="ctr"/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MANAGEMENT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300"/>
              </a:spcAft>
            </a:pPr>
            <a:endParaRPr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12V input  →  LM2596 buck (12V → 5V)  →  AMS1117 LDO (5V → 3.3V)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Powers MCU, sensors, </a:t>
            </a:r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peripherals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0A27B54-CEEC-E83B-3D6F-27D0C65C2E87}"/>
              </a:ext>
            </a:extLst>
          </p:cNvPr>
          <p:cNvCxnSpPr/>
          <p:nvPr/>
        </p:nvCxnSpPr>
        <p:spPr>
          <a:xfrm>
            <a:off x="6009386" y="5256961"/>
            <a:ext cx="0" cy="1188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9" name="Google Shape;227;p19" title="MBF_Logo_2020.png">
            <a:extLst>
              <a:ext uri="{FF2B5EF4-FFF2-40B4-BE49-F238E27FC236}">
                <a16:creationId xmlns:a16="http://schemas.microsoft.com/office/drawing/2014/main" id="{4F8FA07B-C5E2-AD14-E164-2AE26977959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228;p19" title="VK colored transparent logo.png">
            <a:extLst>
              <a:ext uri="{FF2B5EF4-FFF2-40B4-BE49-F238E27FC236}">
                <a16:creationId xmlns:a16="http://schemas.microsoft.com/office/drawing/2014/main" id="{EF069F3B-E0DB-D3BD-355A-F7BDEC3654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F20DA87-9C40-C87A-EB50-3B30D5AA567E}"/>
              </a:ext>
            </a:extLst>
          </p:cNvPr>
          <p:cNvCxnSpPr/>
          <p:nvPr/>
        </p:nvCxnSpPr>
        <p:spPr>
          <a:xfrm flipV="1">
            <a:off x="737118" y="1850821"/>
            <a:ext cx="0" cy="753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1C5C1FE-B7E6-B139-CC7F-DC44817BA1F4}"/>
              </a:ext>
            </a:extLst>
          </p:cNvPr>
          <p:cNvCxnSpPr/>
          <p:nvPr/>
        </p:nvCxnSpPr>
        <p:spPr>
          <a:xfrm flipV="1">
            <a:off x="933061" y="1850821"/>
            <a:ext cx="0" cy="753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531A87D-52B2-8967-FB72-EA419B17AA0E}"/>
              </a:ext>
            </a:extLst>
          </p:cNvPr>
          <p:cNvCxnSpPr/>
          <p:nvPr/>
        </p:nvCxnSpPr>
        <p:spPr>
          <a:xfrm flipV="1">
            <a:off x="1119673" y="1850821"/>
            <a:ext cx="0" cy="753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69BC357-D9E8-7E1C-7099-CE420A305708}"/>
              </a:ext>
            </a:extLst>
          </p:cNvPr>
          <p:cNvCxnSpPr>
            <a:cxnSpLocks/>
          </p:cNvCxnSpPr>
          <p:nvPr/>
        </p:nvCxnSpPr>
        <p:spPr>
          <a:xfrm flipV="1">
            <a:off x="671804" y="4823528"/>
            <a:ext cx="0" cy="7207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134C07C4-7CF3-D1A6-54A8-365D9B967591}"/>
              </a:ext>
            </a:extLst>
          </p:cNvPr>
          <p:cNvCxnSpPr>
            <a:cxnSpLocks/>
          </p:cNvCxnSpPr>
          <p:nvPr/>
        </p:nvCxnSpPr>
        <p:spPr>
          <a:xfrm flipV="1">
            <a:off x="839755" y="4823528"/>
            <a:ext cx="0" cy="7207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7A02448-7BD8-17FF-EF2E-A6F26A99AC19}"/>
              </a:ext>
            </a:extLst>
          </p:cNvPr>
          <p:cNvCxnSpPr>
            <a:cxnSpLocks/>
          </p:cNvCxnSpPr>
          <p:nvPr/>
        </p:nvCxnSpPr>
        <p:spPr>
          <a:xfrm flipV="1">
            <a:off x="1035698" y="4823528"/>
            <a:ext cx="0" cy="7207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5C90B7CE-96AC-EDD8-202A-0D33EE7BB52E}"/>
              </a:ext>
            </a:extLst>
          </p:cNvPr>
          <p:cNvCxnSpPr/>
          <p:nvPr/>
        </p:nvCxnSpPr>
        <p:spPr>
          <a:xfrm>
            <a:off x="2766441" y="3601850"/>
            <a:ext cx="34861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BB8A78AC-B086-714C-B8AD-DE5A5CA47A52}"/>
              </a:ext>
            </a:extLst>
          </p:cNvPr>
          <p:cNvCxnSpPr/>
          <p:nvPr/>
        </p:nvCxnSpPr>
        <p:spPr>
          <a:xfrm>
            <a:off x="2766441" y="3706999"/>
            <a:ext cx="34861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82AEAF33-B9CD-D2BE-47AB-BB2686B8BBC6}"/>
              </a:ext>
            </a:extLst>
          </p:cNvPr>
          <p:cNvCxnSpPr/>
          <p:nvPr/>
        </p:nvCxnSpPr>
        <p:spPr>
          <a:xfrm>
            <a:off x="2766441" y="3806898"/>
            <a:ext cx="34861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621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7;p19" title="MBF_Logo_2020.png">
            <a:extLst>
              <a:ext uri="{FF2B5EF4-FFF2-40B4-BE49-F238E27FC236}">
                <a16:creationId xmlns:a16="http://schemas.microsoft.com/office/drawing/2014/main" id="{B3774955-233E-1392-EA02-95D8CDA32EA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28;p19" title="VK colored transparent logo.png">
            <a:extLst>
              <a:ext uri="{FF2B5EF4-FFF2-40B4-BE49-F238E27FC236}">
                <a16:creationId xmlns:a16="http://schemas.microsoft.com/office/drawing/2014/main" id="{5AEE44F4-74A8-5E9A-BF60-BFDA75A884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lide-title">
            <a:extLst>
              <a:ext uri="{FF2B5EF4-FFF2-40B4-BE49-F238E27FC236}">
                <a16:creationId xmlns:a16="http://schemas.microsoft.com/office/drawing/2014/main" id="{83E048AB-881D-4CD7-AC9A-2BA1C07D6BCC}"/>
              </a:ext>
            </a:extLst>
          </p:cNvPr>
          <p:cNvSpPr>
            <a:spLocks noGrp="1"/>
          </p:cNvSpPr>
          <p:nvPr/>
        </p:nvSpPr>
        <p:spPr>
          <a:xfrm>
            <a:off x="1578430" y="487099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algn="l">
              <a:buNone/>
              <a:defRPr sz="2925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925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925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925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925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925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925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925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925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925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Specifications        </a:t>
            </a:r>
            <a:r>
              <a:rPr sz="3200" b="1" dirty="0">
                <a:solidFill>
                  <a:srgbClr val="162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3200" b="1" dirty="0">
                <a:solidFill>
                  <a:srgbClr val="162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Selection</a:t>
            </a:r>
            <a:endParaRPr sz="3200" b="1" dirty="0">
              <a:solidFill>
                <a:srgbClr val="16223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06149DC-05F8-EB39-5F5B-4612834291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8522286"/>
              </p:ext>
            </p:extLst>
          </p:nvPr>
        </p:nvGraphicFramePr>
        <p:xfrm>
          <a:off x="533400" y="1104150"/>
          <a:ext cx="5562601" cy="454112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536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Specification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Rationale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151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 Latency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100 </a:t>
                      </a:r>
                      <a:r>
                        <a:rPr sz="1400" dirty="0" err="1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real-time detection before critical damage.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538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Flash Budget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80 KB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(of 512 KB)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Proves viability on a cost-sensitive, resource-aware MCU.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248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 Budget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32 KB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(of 128 KB)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Leaves headroom for other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tasks.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7982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Draw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20 mW incremental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Maintains energy efficiency for remote edge deployments.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 States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4-State Model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graceful degradation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(Normal → Critical).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Comms Range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 to 1200m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fleet aggregation in large factories without Wi-Fi.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" name="rationale-heading">
            <a:extLst>
              <a:ext uri="{FF2B5EF4-FFF2-40B4-BE49-F238E27FC236}">
                <a16:creationId xmlns:a16="http://schemas.microsoft.com/office/drawing/2014/main" id="{DE94BA51-528E-6745-5AFA-B05AE1440771}"/>
              </a:ext>
            </a:extLst>
          </p:cNvPr>
          <p:cNvSpPr>
            <a:spLocks noGrp="1"/>
          </p:cNvSpPr>
          <p:nvPr/>
        </p:nvSpPr>
        <p:spPr>
          <a:xfrm>
            <a:off x="533400" y="5685287"/>
            <a:ext cx="10334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>
            <a:lvl1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v"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162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Rationale</a:t>
            </a:r>
            <a:r>
              <a:rPr lang="en-US" sz="1600" b="1" dirty="0">
                <a:solidFill>
                  <a:srgbClr val="162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sz="1600" b="1" dirty="0">
              <a:solidFill>
                <a:srgbClr val="16223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ationale-copy">
            <a:extLst>
              <a:ext uri="{FF2B5EF4-FFF2-40B4-BE49-F238E27FC236}">
                <a16:creationId xmlns:a16="http://schemas.microsoft.com/office/drawing/2014/main" id="{A3974C1C-7401-DE77-C3A1-77B3EDA7A1DE}"/>
              </a:ext>
            </a:extLst>
          </p:cNvPr>
          <p:cNvSpPr>
            <a:spLocks noGrp="1"/>
          </p:cNvSpPr>
          <p:nvPr/>
        </p:nvSpPr>
        <p:spPr>
          <a:xfrm>
            <a:off x="893140" y="5933137"/>
            <a:ext cx="1089220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163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63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63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63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63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63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63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63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63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/>
            <a:r>
              <a:rPr lang="en-US" sz="1400" dirty="0">
                <a:solidFill>
                  <a:srgbClr val="3F4E6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STM32F446RE DSP support enables on-device </a:t>
            </a:r>
            <a:r>
              <a:rPr lang="en-US" sz="1400" dirty="0" err="1">
                <a:solidFill>
                  <a:srgbClr val="3F4E6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TinyML</a:t>
            </a:r>
            <a:r>
              <a:rPr lang="en-US" sz="1400" dirty="0">
                <a:solidFill>
                  <a:srgbClr val="3F4E6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without an external NPU. I²C reduces sensor pin count; isolated RS485 supports long-distance communication in electrically noisy environments. The TPS3813 watchdog remains independent of firmware to recover from lockups.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22A63ACC-6F88-0EA1-D0BA-E717ACC63B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3768187"/>
              </p:ext>
            </p:extLst>
          </p:nvPr>
        </p:nvGraphicFramePr>
        <p:xfrm>
          <a:off x="6339242" y="1053650"/>
          <a:ext cx="5334000" cy="474159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230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Subsystem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 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/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Protocol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558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Controller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STM32F446RE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(Arm Cortex-M4, 180 MHz)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70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SHT31-DIS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(Temperature &amp; Humidity)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I2C (400 kHz)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219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Electrical Health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INA226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(Voltage, Current, Power)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I2C (400 kHz)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913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Fleet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Comms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MAX13487EESA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(Isolated RS485)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Modbus RTU (UART)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733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Logging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W25Q64 SPI Flash &amp;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MicroSD Card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SPI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974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 / Watchdog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TPS3813K33 </a:t>
                      </a:r>
                      <a:endParaRPr lang="en-US" sz="1400" dirty="0">
                        <a:solidFill>
                          <a:srgbClr val="26364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(External Hardware Watchdog)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GPIO / NRST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Actuation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5V SPDT Relay &amp; ULN2003 Driver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GPIO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Management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LM2596 (Buck) &amp; AMS1117 (LDO)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636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12V → 5V → 3.3V</a:t>
                      </a:r>
                    </a:p>
                  </a:txBody>
                  <a:tcPr marL="38100" marR="38100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648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55;p20" title="MBF_Logo_2020.png">
            <a:extLst>
              <a:ext uri="{FF2B5EF4-FFF2-40B4-BE49-F238E27FC236}">
                <a16:creationId xmlns:a16="http://schemas.microsoft.com/office/drawing/2014/main" id="{0C4E52A0-5642-94AB-1F0C-0EED3917CF3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56;p20" title="VK colored transparent logo.png">
            <a:extLst>
              <a:ext uri="{FF2B5EF4-FFF2-40B4-BE49-F238E27FC236}">
                <a16:creationId xmlns:a16="http://schemas.microsoft.com/office/drawing/2014/main" id="{F07CE79E-AA8B-F9AC-7661-F6C2EC2EA8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pcb-caption">
            <a:extLst>
              <a:ext uri="{FF2B5EF4-FFF2-40B4-BE49-F238E27FC236}">
                <a16:creationId xmlns:a16="http://schemas.microsoft.com/office/drawing/2014/main" id="{68B85119-4DFF-6DEE-0403-CEC295879209}"/>
              </a:ext>
            </a:extLst>
          </p:cNvPr>
          <p:cNvSpPr>
            <a:spLocks noGrp="1"/>
          </p:cNvSpPr>
          <p:nvPr/>
        </p:nvSpPr>
        <p:spPr>
          <a:xfrm>
            <a:off x="503277" y="5668421"/>
            <a:ext cx="5195153" cy="57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algn="l">
              <a:buNone/>
              <a:defRPr sz="1088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088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088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088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088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088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088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088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088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088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Figure: </a:t>
            </a:r>
            <a:r>
              <a:rPr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120x100mm 2-layer PCB integrating sensing, communication, and fault-injection circuitry for cost-sensitive viability.</a:t>
            </a:r>
          </a:p>
        </p:txBody>
      </p:sp>
      <p:sp>
        <p:nvSpPr>
          <p:cNvPr id="51" name="Text 1">
            <a:extLst>
              <a:ext uri="{FF2B5EF4-FFF2-40B4-BE49-F238E27FC236}">
                <a16:creationId xmlns:a16="http://schemas.microsoft.com/office/drawing/2014/main" id="{F8220BAA-4022-EAF9-617E-D09052B0E991}"/>
              </a:ext>
            </a:extLst>
          </p:cNvPr>
          <p:cNvSpPr txBox="1"/>
          <p:nvPr/>
        </p:nvSpPr>
        <p:spPr>
          <a:xfrm>
            <a:off x="2134861" y="1042680"/>
            <a:ext cx="489882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50" b="1" dirty="0">
                <a:solidFill>
                  <a:srgbClr val="14213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3D Design View</a:t>
            </a:r>
            <a:endParaRPr lang="en-US" sz="2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97B9A082-AE4D-EDDC-68EA-64696405B2FF}"/>
              </a:ext>
            </a:extLst>
          </p:cNvPr>
          <p:cNvSpPr txBox="1"/>
          <p:nvPr/>
        </p:nvSpPr>
        <p:spPr>
          <a:xfrm>
            <a:off x="11088624" y="656539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750" b="1" dirty="0">
                <a:solidFill>
                  <a:srgbClr val="009B7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03 / 06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8">
            <a:extLst>
              <a:ext uri="{FF2B5EF4-FFF2-40B4-BE49-F238E27FC236}">
                <a16:creationId xmlns:a16="http://schemas.microsoft.com/office/drawing/2014/main" id="{3C950C27-DC0E-C9A4-C76C-2DA719041C57}"/>
              </a:ext>
            </a:extLst>
          </p:cNvPr>
          <p:cNvSpPr/>
          <p:nvPr/>
        </p:nvSpPr>
        <p:spPr>
          <a:xfrm>
            <a:off x="6449211" y="1026325"/>
            <a:ext cx="1639824" cy="786384"/>
          </a:xfrm>
          <a:prstGeom prst="roundRect">
            <a:avLst>
              <a:gd name="adj" fmla="val 6977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9">
            <a:extLst>
              <a:ext uri="{FF2B5EF4-FFF2-40B4-BE49-F238E27FC236}">
                <a16:creationId xmlns:a16="http://schemas.microsoft.com/office/drawing/2014/main" id="{E5360C39-F0C6-9A71-D163-471CF33A296E}"/>
              </a:ext>
            </a:extLst>
          </p:cNvPr>
          <p:cNvSpPr txBox="1"/>
          <p:nvPr/>
        </p:nvSpPr>
        <p:spPr>
          <a:xfrm>
            <a:off x="6504075" y="1073082"/>
            <a:ext cx="1530096" cy="76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120 × 100</a:t>
            </a:r>
          </a:p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mm board footprint</a:t>
            </a: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Shape 11">
            <a:extLst>
              <a:ext uri="{FF2B5EF4-FFF2-40B4-BE49-F238E27FC236}">
                <a16:creationId xmlns:a16="http://schemas.microsoft.com/office/drawing/2014/main" id="{DEB536D0-F700-B0F8-0ED2-810356179E76}"/>
              </a:ext>
            </a:extLst>
          </p:cNvPr>
          <p:cNvSpPr/>
          <p:nvPr/>
        </p:nvSpPr>
        <p:spPr>
          <a:xfrm>
            <a:off x="8198763" y="1026325"/>
            <a:ext cx="1639824" cy="786384"/>
          </a:xfrm>
          <a:prstGeom prst="roundRect">
            <a:avLst>
              <a:gd name="adj" fmla="val 6977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42FA095C-07A0-A060-A163-F0D167829D44}"/>
              </a:ext>
            </a:extLst>
          </p:cNvPr>
          <p:cNvSpPr txBox="1"/>
          <p:nvPr/>
        </p:nvSpPr>
        <p:spPr>
          <a:xfrm>
            <a:off x="8282843" y="1126019"/>
            <a:ext cx="1530096" cy="786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2-layer</a:t>
            </a:r>
          </a:p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FR-4 PCB</a:t>
            </a: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14">
            <a:extLst>
              <a:ext uri="{FF2B5EF4-FFF2-40B4-BE49-F238E27FC236}">
                <a16:creationId xmlns:a16="http://schemas.microsoft.com/office/drawing/2014/main" id="{93233870-E61A-4387-4703-A9E47EC4D062}"/>
              </a:ext>
            </a:extLst>
          </p:cNvPr>
          <p:cNvSpPr/>
          <p:nvPr/>
        </p:nvSpPr>
        <p:spPr>
          <a:xfrm>
            <a:off x="9948315" y="1026325"/>
            <a:ext cx="1639824" cy="786384"/>
          </a:xfrm>
          <a:prstGeom prst="roundRect">
            <a:avLst>
              <a:gd name="adj" fmla="val 6977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15">
            <a:extLst>
              <a:ext uri="{FF2B5EF4-FFF2-40B4-BE49-F238E27FC236}">
                <a16:creationId xmlns:a16="http://schemas.microsoft.com/office/drawing/2014/main" id="{E2B3D81B-29D6-6526-B44D-F83C4485822B}"/>
              </a:ext>
            </a:extLst>
          </p:cNvPr>
          <p:cNvSpPr txBox="1"/>
          <p:nvPr/>
        </p:nvSpPr>
        <p:spPr>
          <a:xfrm>
            <a:off x="10026411" y="1218363"/>
            <a:ext cx="1530096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1.6 mm </a:t>
            </a:r>
          </a:p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board thickness</a:t>
            </a: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17">
            <a:extLst>
              <a:ext uri="{FF2B5EF4-FFF2-40B4-BE49-F238E27FC236}">
                <a16:creationId xmlns:a16="http://schemas.microsoft.com/office/drawing/2014/main" id="{0368750F-250E-43CE-8F69-3165DE43025C}"/>
              </a:ext>
            </a:extLst>
          </p:cNvPr>
          <p:cNvSpPr txBox="1"/>
          <p:nvPr/>
        </p:nvSpPr>
        <p:spPr>
          <a:xfrm>
            <a:off x="6703454" y="2110895"/>
            <a:ext cx="5043538" cy="786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kern="0" spc="8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FUNCTIONAL ZONES REPRESENTED IN THE LAYOUT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Shape 31">
            <a:extLst>
              <a:ext uri="{FF2B5EF4-FFF2-40B4-BE49-F238E27FC236}">
                <a16:creationId xmlns:a16="http://schemas.microsoft.com/office/drawing/2014/main" id="{CD18A433-17B4-58F7-B96B-38EA098F5FAE}"/>
              </a:ext>
            </a:extLst>
          </p:cNvPr>
          <p:cNvSpPr/>
          <p:nvPr/>
        </p:nvSpPr>
        <p:spPr>
          <a:xfrm>
            <a:off x="6549795" y="5551530"/>
            <a:ext cx="5138928" cy="704088"/>
          </a:xfrm>
          <a:prstGeom prst="roundRect">
            <a:avLst>
              <a:gd name="adj" fmla="val 7792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dirty="0">
              <a:solidFill>
                <a:schemeClr val="tx1"/>
              </a:solidFill>
              <a:highlight>
                <a:srgbClr val="000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 32">
            <a:extLst>
              <a:ext uri="{FF2B5EF4-FFF2-40B4-BE49-F238E27FC236}">
                <a16:creationId xmlns:a16="http://schemas.microsoft.com/office/drawing/2014/main" id="{08F31E34-A916-85CB-B3D6-F853C0BAFCFD}"/>
              </a:ext>
            </a:extLst>
          </p:cNvPr>
          <p:cNvSpPr txBox="1"/>
          <p:nvPr/>
        </p:nvSpPr>
        <p:spPr>
          <a:xfrm>
            <a:off x="6733049" y="5523870"/>
            <a:ext cx="987178" cy="69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DESIGN INTENT</a:t>
            </a:r>
            <a:endParaRPr lang="en-US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 33">
            <a:extLst>
              <a:ext uri="{FF2B5EF4-FFF2-40B4-BE49-F238E27FC236}">
                <a16:creationId xmlns:a16="http://schemas.microsoft.com/office/drawing/2014/main" id="{0537D462-7D3C-24E8-CDB8-3C2A45559FAD}"/>
              </a:ext>
            </a:extLst>
          </p:cNvPr>
          <p:cNvSpPr txBox="1"/>
          <p:nvPr/>
        </p:nvSpPr>
        <p:spPr>
          <a:xfrm>
            <a:off x="7820811" y="5607491"/>
            <a:ext cx="3767328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 compact, low-cost board integrates monitoring, communications and deliberate fault stimulus on one controller platform.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C57FC66-483E-6823-D372-406239027A54}"/>
              </a:ext>
            </a:extLst>
          </p:cNvPr>
          <p:cNvSpPr txBox="1"/>
          <p:nvPr/>
        </p:nvSpPr>
        <p:spPr>
          <a:xfrm>
            <a:off x="7452801" y="359210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4213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Physical Specifications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1258F14D-5255-D02B-2F48-81279865E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489057"/>
              </p:ext>
            </p:extLst>
          </p:nvPr>
        </p:nvGraphicFramePr>
        <p:xfrm>
          <a:off x="6348790" y="2911108"/>
          <a:ext cx="5398202" cy="241179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99101">
                  <a:extLst>
                    <a:ext uri="{9D8B030D-6E8A-4147-A177-3AD203B41FA5}">
                      <a16:colId xmlns:a16="http://schemas.microsoft.com/office/drawing/2014/main" val="844569193"/>
                    </a:ext>
                  </a:extLst>
                </a:gridCol>
                <a:gridCol w="2699101">
                  <a:extLst>
                    <a:ext uri="{9D8B030D-6E8A-4147-A177-3AD203B41FA5}">
                      <a16:colId xmlns:a16="http://schemas.microsoft.com/office/drawing/2014/main" val="637875576"/>
                    </a:ext>
                  </a:extLst>
                </a:gridCol>
              </a:tblGrid>
              <a:tr h="512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 Zone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744310"/>
                  </a:ext>
                </a:extLst>
              </a:tr>
              <a:tr h="3489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COMPUTE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STM32F446RE MCU and 8 MHz crystal clock.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242025"/>
                  </a:ext>
                </a:extLst>
              </a:tr>
              <a:tr h="3489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SENSING &amp; COMMS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I²C sensor path plus isolated RS485 fleet interface.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945815"/>
                  </a:ext>
                </a:extLst>
              </a:tr>
              <a:tr h="4926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RESILIENCE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 watchdog, protection devices and fault-injection circuitry.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964987"/>
                  </a:ext>
                </a:extLst>
              </a:tr>
              <a:tr h="4926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&amp; POWER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W25Q64 SPI flash, microSD interface, LM2596 buck and AMS1117 LDO.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230473"/>
                  </a:ext>
                </a:extLst>
              </a:tr>
            </a:tbl>
          </a:graphicData>
        </a:graphic>
      </p:graphicFrame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7783A4D-9B9E-D448-BE4B-734453CC8510}"/>
              </a:ext>
            </a:extLst>
          </p:cNvPr>
          <p:cNvCxnSpPr/>
          <p:nvPr/>
        </p:nvCxnSpPr>
        <p:spPr>
          <a:xfrm>
            <a:off x="7820811" y="5551530"/>
            <a:ext cx="0" cy="694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883A82B5-C71F-BF88-6F5C-750D60127550}"/>
              </a:ext>
            </a:extLst>
          </p:cNvPr>
          <p:cNvSpPr txBox="1"/>
          <p:nvPr/>
        </p:nvSpPr>
        <p:spPr>
          <a:xfrm>
            <a:off x="5186221" y="39202"/>
            <a:ext cx="67740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i="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 Display" panose="020B0004020202020204" pitchFamily="34" charset="0"/>
                <a:cs typeface="Times New Roman" panose="02020603050405020304" pitchFamily="18" charset="0"/>
              </a:rPr>
              <a:t>PCB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9CE8EC-4D7C-E67D-EEF0-74C09DFF3E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2970" y="1677926"/>
            <a:ext cx="5769323" cy="37149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9601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70;p21" title="MBF_Logo_2020.png">
            <a:extLst>
              <a:ext uri="{FF2B5EF4-FFF2-40B4-BE49-F238E27FC236}">
                <a16:creationId xmlns:a16="http://schemas.microsoft.com/office/drawing/2014/main" id="{679D80A4-39D9-8BBB-4577-7758FEB10B7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71;p21" title="VK colored transparent logo.png">
            <a:extLst>
              <a:ext uri="{FF2B5EF4-FFF2-40B4-BE49-F238E27FC236}">
                <a16:creationId xmlns:a16="http://schemas.microsoft.com/office/drawing/2014/main" id="{97C27B77-251F-9DA2-E9E6-4A3CB7A7A2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schematic-heading">
            <a:extLst>
              <a:ext uri="{FF2B5EF4-FFF2-40B4-BE49-F238E27FC236}">
                <a16:creationId xmlns:a16="http://schemas.microsoft.com/office/drawing/2014/main" id="{D73960CF-925C-66BD-BACC-9C7A31FC604F}"/>
              </a:ext>
            </a:extLst>
          </p:cNvPr>
          <p:cNvSpPr>
            <a:spLocks noGrp="1"/>
          </p:cNvSpPr>
          <p:nvPr/>
        </p:nvSpPr>
        <p:spPr>
          <a:xfrm>
            <a:off x="3079296" y="543852"/>
            <a:ext cx="2838061" cy="4961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algn="l">
              <a:buNone/>
              <a:defRPr sz="16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6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pPr>
            <a:r>
              <a:rPr lang="en-US" sz="1800" b="1" dirty="0" err="1">
                <a:solidFill>
                  <a:srgbClr val="162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KiCAD</a:t>
            </a:r>
            <a:r>
              <a:rPr lang="en-US" sz="1800" b="1" dirty="0">
                <a:solidFill>
                  <a:srgbClr val="162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162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Schematic</a:t>
            </a:r>
          </a:p>
        </p:txBody>
      </p:sp>
      <p:sp>
        <p:nvSpPr>
          <p:cNvPr id="27" name="design-rationale-heading">
            <a:extLst>
              <a:ext uri="{FF2B5EF4-FFF2-40B4-BE49-F238E27FC236}">
                <a16:creationId xmlns:a16="http://schemas.microsoft.com/office/drawing/2014/main" id="{1452723B-20CC-50C2-E83D-9C546147EFB0}"/>
              </a:ext>
            </a:extLst>
          </p:cNvPr>
          <p:cNvSpPr>
            <a:spLocks noGrp="1"/>
          </p:cNvSpPr>
          <p:nvPr/>
        </p:nvSpPr>
        <p:spPr>
          <a:xfrm>
            <a:off x="377105" y="5655451"/>
            <a:ext cx="1079746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v"/>
              <a:defRPr sz="1350" b="1">
                <a:solidFill>
                  <a:srgbClr val="162238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162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Rationale</a:t>
            </a:r>
            <a:r>
              <a:rPr lang="en-US" sz="1600" b="1" dirty="0">
                <a:solidFill>
                  <a:srgbClr val="162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sz="1600" b="1" dirty="0">
              <a:solidFill>
                <a:srgbClr val="16223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design-rationale-copy">
            <a:extLst>
              <a:ext uri="{FF2B5EF4-FFF2-40B4-BE49-F238E27FC236}">
                <a16:creationId xmlns:a16="http://schemas.microsoft.com/office/drawing/2014/main" id="{CF72F8B3-9ECB-C9FE-43C6-1D36AA94A70A}"/>
              </a:ext>
            </a:extLst>
          </p:cNvPr>
          <p:cNvSpPr>
            <a:spLocks noGrp="1"/>
          </p:cNvSpPr>
          <p:nvPr/>
        </p:nvSpPr>
        <p:spPr>
          <a:xfrm>
            <a:off x="638362" y="5928055"/>
            <a:ext cx="108870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algn="l">
              <a:buNone/>
              <a:defRPr sz="1200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200" b="0">
                <a:solidFill>
                  <a:srgbClr val="26364A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2636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schematic integrates independent health-monitoring mechanisms (I2C sensors, RS485, Watchdog) around a single low-cost STM32F446RE MCU. The dedicated fault-injection module allows us to physically induce and test faults on the running device, proving the system's autonomous response.</a:t>
            </a:r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98D29A80-02D1-C236-9655-CC362663FBF3}"/>
              </a:ext>
            </a:extLst>
          </p:cNvPr>
          <p:cNvSpPr txBox="1"/>
          <p:nvPr/>
        </p:nvSpPr>
        <p:spPr>
          <a:xfrm>
            <a:off x="2514981" y="44197"/>
            <a:ext cx="11201400" cy="659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Electronics Schematic &amp; PCB Integration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70FCEF35-B4BD-CC18-8474-965C62EFF86B}"/>
              </a:ext>
            </a:extLst>
          </p:cNvPr>
          <p:cNvSpPr txBox="1"/>
          <p:nvPr/>
        </p:nvSpPr>
        <p:spPr>
          <a:xfrm>
            <a:off x="8230524" y="635003"/>
            <a:ext cx="4553712" cy="645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kern="0" spc="8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SCHEMATIC SUBSYSTEM MAP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FDA738C1-40B1-1BD4-8C79-BC46D63C2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769861"/>
              </p:ext>
            </p:extLst>
          </p:nvPr>
        </p:nvGraphicFramePr>
        <p:xfrm>
          <a:off x="7834214" y="1178359"/>
          <a:ext cx="4136114" cy="466099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68057">
                  <a:extLst>
                    <a:ext uri="{9D8B030D-6E8A-4147-A177-3AD203B41FA5}">
                      <a16:colId xmlns:a16="http://schemas.microsoft.com/office/drawing/2014/main" val="259579187"/>
                    </a:ext>
                  </a:extLst>
                </a:gridCol>
                <a:gridCol w="2068057">
                  <a:extLst>
                    <a:ext uri="{9D8B030D-6E8A-4147-A177-3AD203B41FA5}">
                      <a16:colId xmlns:a16="http://schemas.microsoft.com/office/drawing/2014/main" val="2326163148"/>
                    </a:ext>
                  </a:extLst>
                </a:gridCol>
              </a:tblGrid>
              <a:tr h="6985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Subsystem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660721"/>
                  </a:ext>
                </a:extLst>
              </a:tr>
              <a:tr h="7169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MCU + CLOCK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STM32F446RE with 8 MHz crystal and debug header.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510078"/>
                  </a:ext>
                </a:extLst>
              </a:tr>
              <a:tr h="7169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 + I²C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SHT31-DIS and INA226 share the internal </a:t>
                      </a:r>
                    </a:p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bus.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996114"/>
                  </a:ext>
                </a:extLst>
              </a:tr>
              <a:tr h="7169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FLEET COMMUNICATION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MAX13487EESA isolated RS485 interface for Modbus RTU.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601443"/>
                  </a:ext>
                </a:extLst>
              </a:tr>
              <a:tr h="507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DATA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W25Q64 SPI flash and microSD card interface.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883198"/>
                  </a:ext>
                </a:extLst>
              </a:tr>
              <a:tr h="7169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 + FAULTS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TPS3813 watchdog, reset path, protection and fault-injection header.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612024"/>
                  </a:ext>
                </a:extLst>
              </a:tr>
              <a:tr h="507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RAILS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V input conversion to 5 V and 3.3 V rails.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08351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6E83CB7-28A1-3380-B69A-320BA3DB8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51" y="910795"/>
            <a:ext cx="7058051" cy="477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89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70;p21" title="MBF_Logo_2020.png">
            <a:extLst>
              <a:ext uri="{FF2B5EF4-FFF2-40B4-BE49-F238E27FC236}">
                <a16:creationId xmlns:a16="http://schemas.microsoft.com/office/drawing/2014/main" id="{35B27455-D388-2D01-D85C-153AF78A518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71;p21" title="VK colored transparent logo.png">
            <a:extLst>
              <a:ext uri="{FF2B5EF4-FFF2-40B4-BE49-F238E27FC236}">
                <a16:creationId xmlns:a16="http://schemas.microsoft.com/office/drawing/2014/main" id="{96CFFC04-4E4C-FF1E-92AB-4DC0D45A14F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AA32480B-39AC-2ACF-8E79-687F06B828F5}"/>
              </a:ext>
            </a:extLst>
          </p:cNvPr>
          <p:cNvSpPr txBox="1"/>
          <p:nvPr/>
        </p:nvSpPr>
        <p:spPr>
          <a:xfrm>
            <a:off x="4700264" y="96539"/>
            <a:ext cx="7001008" cy="1318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14213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Bill of Materials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255E7A7-5796-6FF1-4110-756DEF531EB5}"/>
              </a:ext>
            </a:extLst>
          </p:cNvPr>
          <p:cNvSpPr txBox="1"/>
          <p:nvPr/>
        </p:nvSpPr>
        <p:spPr>
          <a:xfrm>
            <a:off x="11079480" y="656539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750" b="1" dirty="0">
                <a:solidFill>
                  <a:srgbClr val="009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06</a:t>
            </a:r>
            <a:endParaRPr lang="en-US" sz="750" dirty="0"/>
          </a:p>
        </p:txBody>
      </p:sp>
      <p:sp>
        <p:nvSpPr>
          <p:cNvPr id="106" name="Shape 98">
            <a:extLst>
              <a:ext uri="{FF2B5EF4-FFF2-40B4-BE49-F238E27FC236}">
                <a16:creationId xmlns:a16="http://schemas.microsoft.com/office/drawing/2014/main" id="{2CFBA8C6-92DC-01C7-E201-6AE6D622CC48}"/>
              </a:ext>
            </a:extLst>
          </p:cNvPr>
          <p:cNvSpPr/>
          <p:nvPr/>
        </p:nvSpPr>
        <p:spPr>
          <a:xfrm>
            <a:off x="536448" y="5312664"/>
            <a:ext cx="5422392" cy="896112"/>
          </a:xfrm>
          <a:prstGeom prst="roundRect">
            <a:avLst>
              <a:gd name="adj" fmla="val 6122"/>
            </a:avLst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07" name="Text 99">
            <a:extLst>
              <a:ext uri="{FF2B5EF4-FFF2-40B4-BE49-F238E27FC236}">
                <a16:creationId xmlns:a16="http://schemas.microsoft.com/office/drawing/2014/main" id="{E2B826BD-9622-4823-FCFD-6D1E11DA4503}"/>
              </a:ext>
            </a:extLst>
          </p:cNvPr>
          <p:cNvSpPr txBox="1"/>
          <p:nvPr/>
        </p:nvSpPr>
        <p:spPr>
          <a:xfrm>
            <a:off x="1855284" y="5177370"/>
            <a:ext cx="3394072" cy="66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kern="0" spc="3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PROCUREMENT STATUS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 100">
            <a:extLst>
              <a:ext uri="{FF2B5EF4-FFF2-40B4-BE49-F238E27FC236}">
                <a16:creationId xmlns:a16="http://schemas.microsoft.com/office/drawing/2014/main" id="{4AFECD58-CC65-B754-E346-6A074BA399D6}"/>
              </a:ext>
            </a:extLst>
          </p:cNvPr>
          <p:cNvSpPr txBox="1"/>
          <p:nvPr/>
        </p:nvSpPr>
        <p:spPr>
          <a:xfrm>
            <a:off x="664464" y="5681868"/>
            <a:ext cx="5084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Core parts are listed as locally or domestically sourced within India; the maximum stated shipping lead time is 7 business days.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Shape 101">
            <a:extLst>
              <a:ext uri="{FF2B5EF4-FFF2-40B4-BE49-F238E27FC236}">
                <a16:creationId xmlns:a16="http://schemas.microsoft.com/office/drawing/2014/main" id="{40A657F0-F94B-9915-2B28-79F26E081BB8}"/>
              </a:ext>
            </a:extLst>
          </p:cNvPr>
          <p:cNvSpPr/>
          <p:nvPr/>
        </p:nvSpPr>
        <p:spPr>
          <a:xfrm>
            <a:off x="6141720" y="5312664"/>
            <a:ext cx="5559552" cy="896112"/>
          </a:xfrm>
          <a:prstGeom prst="roundRect">
            <a:avLst>
              <a:gd name="adj" fmla="val 6122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10" name="Text 102">
            <a:extLst>
              <a:ext uri="{FF2B5EF4-FFF2-40B4-BE49-F238E27FC236}">
                <a16:creationId xmlns:a16="http://schemas.microsoft.com/office/drawing/2014/main" id="{BC0B2C7D-517C-0857-6254-F3B56BB0511B}"/>
              </a:ext>
            </a:extLst>
          </p:cNvPr>
          <p:cNvSpPr txBox="1"/>
          <p:nvPr/>
        </p:nvSpPr>
        <p:spPr>
          <a:xfrm>
            <a:off x="7497925" y="4918530"/>
            <a:ext cx="3622206" cy="10991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kern="0" spc="30" dirty="0">
                <a:solidFill>
                  <a:srgbClr val="1421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COST-SENSITIVE VIABILITY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 104">
            <a:extLst>
              <a:ext uri="{FF2B5EF4-FFF2-40B4-BE49-F238E27FC236}">
                <a16:creationId xmlns:a16="http://schemas.microsoft.com/office/drawing/2014/main" id="{CCE96EEC-BD14-A47E-8E55-AAD0C71AE0EF}"/>
              </a:ext>
            </a:extLst>
          </p:cNvPr>
          <p:cNvSpPr txBox="1"/>
          <p:nvPr/>
        </p:nvSpPr>
        <p:spPr>
          <a:xfrm>
            <a:off x="6810224" y="5664708"/>
            <a:ext cx="4598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Under the </a:t>
            </a:r>
            <a:r>
              <a:rPr lang="en-US" b="1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₹4,200 </a:t>
            </a:r>
            <a:r>
              <a:rPr lang="en-US" sz="1400" dirty="0"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target in the supplied project narrative, keeping electronics costs accessible for MSME retrofits.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4" name="Table 113">
            <a:extLst>
              <a:ext uri="{FF2B5EF4-FFF2-40B4-BE49-F238E27FC236}">
                <a16:creationId xmlns:a16="http://schemas.microsoft.com/office/drawing/2014/main" id="{9922D95A-C871-DF84-3825-B4130A19B1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5972663"/>
              </p:ext>
            </p:extLst>
          </p:nvPr>
        </p:nvGraphicFramePr>
        <p:xfrm>
          <a:off x="541020" y="1180773"/>
          <a:ext cx="11201400" cy="392417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29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0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8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 / Specification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 Time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Estimated Cost </a:t>
                      </a:r>
                    </a:p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(INR)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18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Controller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STM32F446RET6 (Arm Cortex-M4, 180MHz)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(3 days)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₹550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18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 Sensors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SHT31-DIS (Temp/Humidity) &amp; INA226 (Power)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Set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Domestic (7 days)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₹700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1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Comms &amp; RTC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MAX13487EESA (RS485) &amp; DS3231SN (RTC)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Set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Domestic (5 days)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₹380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18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Logging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W25Q64 (8MB SPI Flash) &amp; MicroSD Slot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Set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(2 days)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₹130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18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&amp; Relay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LM2596, AMS1117, 5V Relay, ULN2003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Set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(2 days)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₹250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18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 Injection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TPS3813 Watchdog, MOSFETs, TVS Diodes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Set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Domestic (5 days)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₹350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18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Passives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8MHz Crystal, Capacitors, Resistors, LEDs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Set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(2 days)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₹250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18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PCB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FR4 2-Layer 1.6mm (120x100 mm)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Domestic (6 days)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₹1,500</a:t>
                      </a:r>
                    </a:p>
                  </a:txBody>
                  <a:tcPr marL="47625" marR="47625" marT="9525" marB="95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6335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381;p24" title="MBF_Logo_2020.png">
            <a:extLst>
              <a:ext uri="{FF2B5EF4-FFF2-40B4-BE49-F238E27FC236}">
                <a16:creationId xmlns:a16="http://schemas.microsoft.com/office/drawing/2014/main" id="{DAD786DE-AD81-E54D-727C-583CD63E14E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82;p24" title="VK colored transparent logo.png">
            <a:extLst>
              <a:ext uri="{FF2B5EF4-FFF2-40B4-BE49-F238E27FC236}">
                <a16:creationId xmlns:a16="http://schemas.microsoft.com/office/drawing/2014/main" id="{A673733F-248A-FB2E-5605-91EEC4E1F8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FA881C-E4AD-B3D3-B055-6CB580A8A5BB}"/>
              </a:ext>
            </a:extLst>
          </p:cNvPr>
          <p:cNvSpPr txBox="1"/>
          <p:nvPr/>
        </p:nvSpPr>
        <p:spPr>
          <a:xfrm>
            <a:off x="4540287" y="507397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Maker Journey 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EE7D9868-5AE5-CE20-1468-485AC29C5B16}"/>
              </a:ext>
            </a:extLst>
          </p:cNvPr>
          <p:cNvSpPr txBox="1"/>
          <p:nvPr/>
        </p:nvSpPr>
        <p:spPr>
          <a:xfrm>
            <a:off x="963885" y="5696161"/>
            <a:ext cx="5714288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reviewing electronic design and development work together</a:t>
            </a:r>
          </a:p>
        </p:txBody>
      </p:sp>
      <p:sp>
        <p:nvSpPr>
          <p:cNvPr id="41" name="Rounded Rectangle 7">
            <a:extLst>
              <a:ext uri="{FF2B5EF4-FFF2-40B4-BE49-F238E27FC236}">
                <a16:creationId xmlns:a16="http://schemas.microsoft.com/office/drawing/2014/main" id="{D58DDCF5-439A-1DF4-AA99-51B820D0933B}"/>
              </a:ext>
            </a:extLst>
          </p:cNvPr>
          <p:cNvSpPr/>
          <p:nvPr/>
        </p:nvSpPr>
        <p:spPr>
          <a:xfrm>
            <a:off x="7318619" y="1652596"/>
            <a:ext cx="4680916" cy="4160520"/>
          </a:xfrm>
          <a:prstGeom prst="round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8">
            <a:extLst>
              <a:ext uri="{FF2B5EF4-FFF2-40B4-BE49-F238E27FC236}">
                <a16:creationId xmlns:a16="http://schemas.microsoft.com/office/drawing/2014/main" id="{D4E925C1-3224-ABD4-C463-145CA8C72D4C}"/>
              </a:ext>
            </a:extLst>
          </p:cNvPr>
          <p:cNvSpPr txBox="1"/>
          <p:nvPr/>
        </p:nvSpPr>
        <p:spPr>
          <a:xfrm>
            <a:off x="7925468" y="1727201"/>
            <a:ext cx="3662895" cy="6340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Stage 1 to Stage 2 </a:t>
            </a:r>
            <a:r>
              <a:rPr sz="2000" b="1" dirty="0">
                <a:solidFill>
                  <a:srgbClr val="121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Progress &amp; Evidence</a:t>
            </a:r>
          </a:p>
        </p:txBody>
      </p:sp>
      <p:sp>
        <p:nvSpPr>
          <p:cNvPr id="45" name="TextBox 10">
            <a:extLst>
              <a:ext uri="{FF2B5EF4-FFF2-40B4-BE49-F238E27FC236}">
                <a16:creationId xmlns:a16="http://schemas.microsoft.com/office/drawing/2014/main" id="{D254FE0F-281A-698A-DC78-D9C1BE28C489}"/>
              </a:ext>
            </a:extLst>
          </p:cNvPr>
          <p:cNvSpPr txBox="1"/>
          <p:nvPr/>
        </p:nvSpPr>
        <p:spPr>
          <a:xfrm>
            <a:off x="8412618" y="2568845"/>
            <a:ext cx="466344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&amp; FIRMWARE</a:t>
            </a:r>
          </a:p>
        </p:txBody>
      </p:sp>
      <p:sp>
        <p:nvSpPr>
          <p:cNvPr id="47" name="TextBox 11">
            <a:extLst>
              <a:ext uri="{FF2B5EF4-FFF2-40B4-BE49-F238E27FC236}">
                <a16:creationId xmlns:a16="http://schemas.microsoft.com/office/drawing/2014/main" id="{FBF4CA08-492D-7CE5-465A-C6959EDE111D}"/>
              </a:ext>
            </a:extLst>
          </p:cNvPr>
          <p:cNvSpPr txBox="1"/>
          <p:nvPr/>
        </p:nvSpPr>
        <p:spPr>
          <a:xfrm>
            <a:off x="8078788" y="2857591"/>
            <a:ext cx="3356256" cy="3877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STM32F446RE-based edge controller; firmware assets organized in the repository.</a:t>
            </a:r>
          </a:p>
        </p:txBody>
      </p:sp>
      <p:sp>
        <p:nvSpPr>
          <p:cNvPr id="49" name="TextBox 13">
            <a:extLst>
              <a:ext uri="{FF2B5EF4-FFF2-40B4-BE49-F238E27FC236}">
                <a16:creationId xmlns:a16="http://schemas.microsoft.com/office/drawing/2014/main" id="{BE089D70-6C64-D431-83F1-BA2E5B16AA3F}"/>
              </a:ext>
            </a:extLst>
          </p:cNvPr>
          <p:cNvSpPr txBox="1"/>
          <p:nvPr/>
        </p:nvSpPr>
        <p:spPr>
          <a:xfrm>
            <a:off x="8412618" y="3355062"/>
            <a:ext cx="466344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ELECTRONICS DESIGN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77DCF1-A7A2-7DD0-5A9E-D97161C96C70}"/>
              </a:ext>
            </a:extLst>
          </p:cNvPr>
          <p:cNvSpPr txBox="1"/>
          <p:nvPr/>
        </p:nvSpPr>
        <p:spPr>
          <a:xfrm>
            <a:off x="7980949" y="3600932"/>
            <a:ext cx="3356256" cy="3877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KiCad</a:t>
            </a: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schematic, PCB layout and bill of materials are grouped under </a:t>
            </a:r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6F0AEB-71DB-D0F6-9469-187410BE542E}"/>
              </a:ext>
            </a:extLst>
          </p:cNvPr>
          <p:cNvSpPr txBox="1"/>
          <p:nvPr/>
        </p:nvSpPr>
        <p:spPr>
          <a:xfrm>
            <a:off x="8412618" y="4196116"/>
            <a:ext cx="466344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TINYML WORKFLOW</a:t>
            </a:r>
          </a:p>
        </p:txBody>
      </p:sp>
      <p:sp>
        <p:nvSpPr>
          <p:cNvPr id="55" name="TextBox 17">
            <a:extLst>
              <a:ext uri="{FF2B5EF4-FFF2-40B4-BE49-F238E27FC236}">
                <a16:creationId xmlns:a16="http://schemas.microsoft.com/office/drawing/2014/main" id="{EC5D0626-CE79-67B1-D544-DAD80A18FA1C}"/>
              </a:ext>
            </a:extLst>
          </p:cNvPr>
          <p:cNvSpPr txBox="1"/>
          <p:nvPr/>
        </p:nvSpPr>
        <p:spPr>
          <a:xfrm>
            <a:off x="8223413" y="4441986"/>
            <a:ext cx="3067007" cy="3877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data, notebooks and model assets are organized under /ml.</a:t>
            </a:r>
          </a:p>
        </p:txBody>
      </p:sp>
      <p:sp>
        <p:nvSpPr>
          <p:cNvPr id="57" name="TextBox 19">
            <a:extLst>
              <a:ext uri="{FF2B5EF4-FFF2-40B4-BE49-F238E27FC236}">
                <a16:creationId xmlns:a16="http://schemas.microsoft.com/office/drawing/2014/main" id="{9AE00A79-CCAB-6E64-3E2F-846E5AEC6B33}"/>
              </a:ext>
            </a:extLst>
          </p:cNvPr>
          <p:cNvSpPr txBox="1"/>
          <p:nvPr/>
        </p:nvSpPr>
        <p:spPr>
          <a:xfrm>
            <a:off x="8223414" y="5006016"/>
            <a:ext cx="466344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&amp; DEMO</a:t>
            </a:r>
          </a:p>
        </p:txBody>
      </p:sp>
      <p:sp>
        <p:nvSpPr>
          <p:cNvPr id="59" name="TextBox 20">
            <a:extLst>
              <a:ext uri="{FF2B5EF4-FFF2-40B4-BE49-F238E27FC236}">
                <a16:creationId xmlns:a16="http://schemas.microsoft.com/office/drawing/2014/main" id="{554A119B-0AA2-CC2B-6242-6E601041396D}"/>
              </a:ext>
            </a:extLst>
          </p:cNvPr>
          <p:cNvSpPr txBox="1"/>
          <p:nvPr/>
        </p:nvSpPr>
        <p:spPr>
          <a:xfrm>
            <a:off x="7703073" y="5222185"/>
            <a:ext cx="3912008" cy="3877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Architecture, validation documents, presentation material and demo-video links are grouped in the repository.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67586-F971-CD91-1C39-40D5CCFE6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171" y="1662985"/>
            <a:ext cx="6506278" cy="38758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1864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21">
            <a:extLst>
              <a:ext uri="{FF2B5EF4-FFF2-40B4-BE49-F238E27FC236}">
                <a16:creationId xmlns:a16="http://schemas.microsoft.com/office/drawing/2014/main" id="{C5BBFCD6-071F-C979-2FC3-D401D386D23D}"/>
              </a:ext>
            </a:extLst>
          </p:cNvPr>
          <p:cNvSpPr/>
          <p:nvPr/>
        </p:nvSpPr>
        <p:spPr>
          <a:xfrm>
            <a:off x="2302834" y="5797385"/>
            <a:ext cx="8039757" cy="70408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22">
            <a:extLst>
              <a:ext uri="{FF2B5EF4-FFF2-40B4-BE49-F238E27FC236}">
                <a16:creationId xmlns:a16="http://schemas.microsoft.com/office/drawing/2014/main" id="{BDC47A29-2504-B67A-80E1-256F75A0231A}"/>
              </a:ext>
            </a:extLst>
          </p:cNvPr>
          <p:cNvSpPr txBox="1"/>
          <p:nvPr/>
        </p:nvSpPr>
        <p:spPr>
          <a:xfrm>
            <a:off x="2431711" y="6009948"/>
            <a:ext cx="2391899" cy="2646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RAW REPOSITORY LINK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27A8FE8-C196-5E50-F06B-BAC2AF259B66}"/>
              </a:ext>
            </a:extLst>
          </p:cNvPr>
          <p:cNvCxnSpPr/>
          <p:nvPr/>
        </p:nvCxnSpPr>
        <p:spPr>
          <a:xfrm>
            <a:off x="4844376" y="5806786"/>
            <a:ext cx="0" cy="7040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3">
            <a:extLst>
              <a:ext uri="{FF2B5EF4-FFF2-40B4-BE49-F238E27FC236}">
                <a16:creationId xmlns:a16="http://schemas.microsoft.com/office/drawing/2014/main" id="{A1DE3606-F50E-E842-2A9C-73B432C2B5D0}"/>
              </a:ext>
            </a:extLst>
          </p:cNvPr>
          <p:cNvSpPr txBox="1"/>
          <p:nvPr/>
        </p:nvSpPr>
        <p:spPr>
          <a:xfrm>
            <a:off x="5467668" y="5863364"/>
            <a:ext cx="7040880" cy="29546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</a:t>
            </a:r>
            <a:r>
              <a:rPr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ConquerToFreedom</a:t>
            </a:r>
            <a:r>
              <a:rPr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SwasthEdge</a:t>
            </a:r>
            <a:endParaRPr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8BBE989E-E477-D042-ADFC-2867D0CC42AD}"/>
              </a:ext>
            </a:extLst>
          </p:cNvPr>
          <p:cNvSpPr txBox="1"/>
          <p:nvPr/>
        </p:nvSpPr>
        <p:spPr>
          <a:xfrm>
            <a:off x="5198554" y="6221309"/>
            <a:ext cx="5380086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Firmware • Hardware • ML • Documentation • Presentation • Demo resources</a:t>
            </a:r>
          </a:p>
        </p:txBody>
      </p:sp>
      <p:pic>
        <p:nvPicPr>
          <p:cNvPr id="33" name="Google Shape;343;p23" descr="image.png">
            <a:extLst>
              <a:ext uri="{FF2B5EF4-FFF2-40B4-BE49-F238E27FC236}">
                <a16:creationId xmlns:a16="http://schemas.microsoft.com/office/drawing/2014/main" id="{46F1CEDF-4E8A-34B0-3353-1879546B45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5124" y="582521"/>
            <a:ext cx="469072" cy="41585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AF722A0-D2C9-1D8C-074A-C9409F9CD295}"/>
              </a:ext>
            </a:extLst>
          </p:cNvPr>
          <p:cNvSpPr txBox="1"/>
          <p:nvPr/>
        </p:nvSpPr>
        <p:spPr>
          <a:xfrm>
            <a:off x="1665445" y="555618"/>
            <a:ext cx="6260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buNone/>
            </a:pPr>
            <a:r>
              <a:rPr lang="en-US" sz="2400" b="1" i="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Work-In-Progress Software Evidence</a:t>
            </a:r>
            <a:endParaRPr lang="en-I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DE2D6F5-22C4-7A61-024B-6452A006C641}"/>
              </a:ext>
            </a:extLst>
          </p:cNvPr>
          <p:cNvSpPr txBox="1"/>
          <p:nvPr/>
        </p:nvSpPr>
        <p:spPr>
          <a:xfrm>
            <a:off x="4758177" y="5423889"/>
            <a:ext cx="6260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Figure - EDA layout software (</a:t>
            </a:r>
            <a:r>
              <a:rPr lang="en-US" sz="160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KiCad</a:t>
            </a:r>
            <a:r>
              <a:rPr lang="en-US" sz="160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) </a:t>
            </a:r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Google Shape;381;p24" title="MBF_Logo_2020.png">
            <a:extLst>
              <a:ext uri="{FF2B5EF4-FFF2-40B4-BE49-F238E27FC236}">
                <a16:creationId xmlns:a16="http://schemas.microsoft.com/office/drawing/2014/main" id="{E14323EE-E101-A6C4-59F2-A551A9B73CF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382;p24" title="VK colored transparent logo.png">
            <a:extLst>
              <a:ext uri="{FF2B5EF4-FFF2-40B4-BE49-F238E27FC236}">
                <a16:creationId xmlns:a16="http://schemas.microsoft.com/office/drawing/2014/main" id="{D0E669D2-F2EC-DE0B-286F-951E9552445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777D39-F242-0BDD-F514-0FD2BFF38F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0854" y="998375"/>
            <a:ext cx="9007786" cy="44161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0784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397;p25" title="MBF_Logo_2020.png">
            <a:extLst>
              <a:ext uri="{FF2B5EF4-FFF2-40B4-BE49-F238E27FC236}">
                <a16:creationId xmlns:a16="http://schemas.microsoft.com/office/drawing/2014/main" id="{75067131-93FF-64B8-9001-7067A3DA73E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98;p25" title="VK colored transparent logo.png">
            <a:extLst>
              <a:ext uri="{FF2B5EF4-FFF2-40B4-BE49-F238E27FC236}">
                <a16:creationId xmlns:a16="http://schemas.microsoft.com/office/drawing/2014/main" id="{B4F8FFEE-43DA-CBCE-77A9-71BAB36007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51DA3C-27E0-36D3-D5A0-CF4AC226233A}"/>
              </a:ext>
            </a:extLst>
          </p:cNvPr>
          <p:cNvSpPr txBox="1"/>
          <p:nvPr/>
        </p:nvSpPr>
        <p:spPr>
          <a:xfrm>
            <a:off x="2077468" y="498713"/>
            <a:ext cx="3596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&amp; Hazard Mitigation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BD31D6-A8DF-4432-B824-EBEE10E02AD6}"/>
              </a:ext>
            </a:extLst>
          </p:cNvPr>
          <p:cNvSpPr txBox="1"/>
          <p:nvPr/>
        </p:nvSpPr>
        <p:spPr>
          <a:xfrm>
            <a:off x="7542401" y="543204"/>
            <a:ext cx="33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 / Compliance</a:t>
            </a:r>
          </a:p>
        </p:txBody>
      </p:sp>
      <p:pic>
        <p:nvPicPr>
          <p:cNvPr id="22" name="Google Shape;391;p25" descr="image.png">
            <a:extLst>
              <a:ext uri="{FF2B5EF4-FFF2-40B4-BE49-F238E27FC236}">
                <a16:creationId xmlns:a16="http://schemas.microsoft.com/office/drawing/2014/main" id="{1BC485C5-AD5E-1E2F-604C-583DC51973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6512" y="612663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Rectangle: Diagonal Corners Rounded 24">
            <a:extLst>
              <a:ext uri="{FF2B5EF4-FFF2-40B4-BE49-F238E27FC236}">
                <a16:creationId xmlns:a16="http://schemas.microsoft.com/office/drawing/2014/main" id="{DF6D141C-DE01-6E87-329B-1E25E09CF37B}"/>
              </a:ext>
            </a:extLst>
          </p:cNvPr>
          <p:cNvSpPr/>
          <p:nvPr/>
        </p:nvSpPr>
        <p:spPr>
          <a:xfrm>
            <a:off x="1342010" y="1031268"/>
            <a:ext cx="4413378" cy="4628224"/>
          </a:xfrm>
          <a:prstGeom prst="round2Diag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Diagonal Corners Rounded 26">
            <a:extLst>
              <a:ext uri="{FF2B5EF4-FFF2-40B4-BE49-F238E27FC236}">
                <a16:creationId xmlns:a16="http://schemas.microsoft.com/office/drawing/2014/main" id="{03784F12-6973-2D82-BAF4-7182E1059D17}"/>
              </a:ext>
            </a:extLst>
          </p:cNvPr>
          <p:cNvSpPr/>
          <p:nvPr/>
        </p:nvSpPr>
        <p:spPr>
          <a:xfrm rot="10800000">
            <a:off x="6496034" y="1075490"/>
            <a:ext cx="4531875" cy="4628224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" name="Google Shape;396;p25" descr="image.png">
            <a:extLst>
              <a:ext uri="{FF2B5EF4-FFF2-40B4-BE49-F238E27FC236}">
                <a16:creationId xmlns:a16="http://schemas.microsoft.com/office/drawing/2014/main" id="{DCC590A5-BA82-C7D3-54FB-C52B1DFACB6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19730" y="655578"/>
            <a:ext cx="422671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9683ACD-3360-1FF9-2ABD-28F626F07003}"/>
              </a:ext>
            </a:extLst>
          </p:cNvPr>
          <p:cNvSpPr txBox="1"/>
          <p:nvPr/>
        </p:nvSpPr>
        <p:spPr>
          <a:xfrm>
            <a:off x="2811113" y="5844956"/>
            <a:ext cx="65353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 are considered as design and validation references; no formal compliance or certification is claimed at the prototype stage.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FAAA38-9E85-A0DA-9D3A-37401F0B5140}"/>
              </a:ext>
            </a:extLst>
          </p:cNvPr>
          <p:cNvSpPr txBox="1"/>
          <p:nvPr/>
        </p:nvSpPr>
        <p:spPr>
          <a:xfrm>
            <a:off x="1456719" y="1021937"/>
            <a:ext cx="4217389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Confirmation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sensor readings together with voltage, current and MCU-health indicators before increasing fault confidence.</a:t>
            </a:r>
          </a:p>
          <a:p>
            <a:pPr algn="ctr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Graceful Degradation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→ Warning → Degraded → Critical operating states prevent unnecessary escalation.</a:t>
            </a:r>
          </a:p>
          <a:p>
            <a:pPr algn="ctr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Fail-Critical Response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Warning, faulty-sensor isolation, fallback values, reduced operation, communication recovery, or predefined critical state.</a:t>
            </a:r>
          </a:p>
          <a:p>
            <a:pPr algn="ctr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Monitoring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sensor drift, power abnormalities, controller health and communication failures continuously.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18E82F-E709-1B9D-DD94-0323B1400238}"/>
              </a:ext>
            </a:extLst>
          </p:cNvPr>
          <p:cNvSpPr txBox="1"/>
          <p:nvPr/>
        </p:nvSpPr>
        <p:spPr>
          <a:xfrm>
            <a:off x="6496034" y="1320112"/>
            <a:ext cx="459916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Safety — 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IEC 61508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for safety-related electrical/electronic/programmable functions and their safety lifecycle.</a:t>
            </a:r>
          </a:p>
          <a:p>
            <a:pPr algn="ctr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EMC — 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IEC 61000-6-2 / IEC 61000-6-4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for industrial-environment immunity and emissions of electrical/electronic equipment.</a:t>
            </a:r>
          </a:p>
          <a:p>
            <a:pPr algn="ctr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Cybersecurity — 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IEC 62443-4-1 / IEC 62443-4-2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for secure product development and technical security requirements for industrial automation/control-system components.</a:t>
            </a:r>
          </a:p>
        </p:txBody>
      </p:sp>
    </p:spTree>
    <p:extLst>
      <p:ext uri="{BB962C8B-B14F-4D97-AF65-F5344CB8AC3E}">
        <p14:creationId xmlns:p14="http://schemas.microsoft.com/office/powerpoint/2010/main" val="4068615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EDB12A-F317-C199-7584-D9981250C300}"/>
              </a:ext>
            </a:extLst>
          </p:cNvPr>
          <p:cNvSpPr txBox="1"/>
          <p:nvPr/>
        </p:nvSpPr>
        <p:spPr>
          <a:xfrm>
            <a:off x="375764" y="1986801"/>
            <a:ext cx="5481322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October 2026 — System Setup &amp; Breadboard Prototype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MCU, sensor and power-monitoring architecture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normal sensor/controller behaviour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breadboard-based functional prototype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voltage/current and sensor monitoring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controlled fault-injection setup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November 2026 — Self-Diagnosis Firmware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sensor-drift detection using EWMA/CUSUM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MCU health and communication monitoring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local diagnostic logging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lightweight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TinyML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anomaly detection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firmware for PCB migration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535623-AAC0-F940-2BC9-F9BD80AC057E}"/>
              </a:ext>
            </a:extLst>
          </p:cNvPr>
          <p:cNvSpPr txBox="1"/>
          <p:nvPr/>
        </p:nvSpPr>
        <p:spPr>
          <a:xfrm>
            <a:off x="6096000" y="2052484"/>
            <a:ext cx="5983618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December 2026 — PCB &amp; Health-Fusion Integration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schematic and PCB layout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health-fusion and fault-confidence logic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Normal → Warning → Degraded → Critical states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local fault responses and fallback handling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Assemble and bench-test PCB prototype </a:t>
            </a:r>
          </a:p>
          <a:p>
            <a:pPr lvl="0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January 2027 — Validation &amp; Stage 3 Readiness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controlled fault-injection tests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sensor-only vs. multi-parameter health fusion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detection performance, false alarms, latency, CPU/RAM and power overhead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PCB prototype and Stage 3 field-testing readiness</a:t>
            </a:r>
          </a:p>
        </p:txBody>
      </p:sp>
      <p:sp>
        <p:nvSpPr>
          <p:cNvPr id="9" name="Google Shape;409;p26">
            <a:extLst>
              <a:ext uri="{FF2B5EF4-FFF2-40B4-BE49-F238E27FC236}">
                <a16:creationId xmlns:a16="http://schemas.microsoft.com/office/drawing/2014/main" id="{BBE239C8-F71D-45A9-453F-BFFA7A244696}"/>
              </a:ext>
            </a:extLst>
          </p:cNvPr>
          <p:cNvSpPr txBox="1"/>
          <p:nvPr/>
        </p:nvSpPr>
        <p:spPr>
          <a:xfrm>
            <a:off x="4706360" y="343093"/>
            <a:ext cx="580136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Roadmap</a:t>
            </a:r>
            <a:endParaRPr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Google Shape;410;p26" title="MBF_Logo_2020.png">
            <a:extLst>
              <a:ext uri="{FF2B5EF4-FFF2-40B4-BE49-F238E27FC236}">
                <a16:creationId xmlns:a16="http://schemas.microsoft.com/office/drawing/2014/main" id="{563F2B3A-7C7A-6F3C-9AFA-B7E1347FE57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411;p26" title="VK colored transparent logo.png">
            <a:extLst>
              <a:ext uri="{FF2B5EF4-FFF2-40B4-BE49-F238E27FC236}">
                <a16:creationId xmlns:a16="http://schemas.microsoft.com/office/drawing/2014/main" id="{3B470BBE-1601-DEEE-6296-C6CB40AF79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1F9E802-4DB1-1BC2-ABE0-EB1D3ED9E2CC}"/>
              </a:ext>
            </a:extLst>
          </p:cNvPr>
          <p:cNvCxnSpPr>
            <a:cxnSpLocks/>
          </p:cNvCxnSpPr>
          <p:nvPr/>
        </p:nvCxnSpPr>
        <p:spPr>
          <a:xfrm>
            <a:off x="5963919" y="1713879"/>
            <a:ext cx="12623" cy="40391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346C067-8231-39A3-C845-70CE5EA760AA}"/>
              </a:ext>
            </a:extLst>
          </p:cNvPr>
          <p:cNvSpPr txBox="1"/>
          <p:nvPr/>
        </p:nvSpPr>
        <p:spPr>
          <a:xfrm>
            <a:off x="670456" y="5904333"/>
            <a:ext cx="111141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3 Target: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Working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SwasthEdge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prototype validated through controlled fault injection and ready for functional field testing.</a:t>
            </a:r>
          </a:p>
        </p:txBody>
      </p:sp>
      <p:pic>
        <p:nvPicPr>
          <p:cNvPr id="23" name="Google Shape;435;p27" descr="image.png">
            <a:extLst>
              <a:ext uri="{FF2B5EF4-FFF2-40B4-BE49-F238E27FC236}">
                <a16:creationId xmlns:a16="http://schemas.microsoft.com/office/drawing/2014/main" id="{01B64243-4FCE-4F7B-3C76-EBAF541C066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7280" y="1239278"/>
            <a:ext cx="369624" cy="28534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436;p27">
            <a:extLst>
              <a:ext uri="{FF2B5EF4-FFF2-40B4-BE49-F238E27FC236}">
                <a16:creationId xmlns:a16="http://schemas.microsoft.com/office/drawing/2014/main" id="{F53D0F5F-089F-FA8D-FD02-D06BBB8FB90C}"/>
              </a:ext>
            </a:extLst>
          </p:cNvPr>
          <p:cNvSpPr txBox="1"/>
          <p:nvPr/>
        </p:nvSpPr>
        <p:spPr>
          <a:xfrm>
            <a:off x="1545644" y="1230605"/>
            <a:ext cx="323717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Fabrication Phase (Months 1 - 2)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Google Shape;439;p27" descr="image.png">
            <a:extLst>
              <a:ext uri="{FF2B5EF4-FFF2-40B4-BE49-F238E27FC236}">
                <a16:creationId xmlns:a16="http://schemas.microsoft.com/office/drawing/2014/main" id="{BE4E3E45-C8C8-FCDC-C28F-13B75EAA65B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34740" y="1208048"/>
            <a:ext cx="267022" cy="23114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440;p27">
            <a:extLst>
              <a:ext uri="{FF2B5EF4-FFF2-40B4-BE49-F238E27FC236}">
                <a16:creationId xmlns:a16="http://schemas.microsoft.com/office/drawing/2014/main" id="{9F5B4822-F39C-2D3A-8B79-75C88EC9F202}"/>
              </a:ext>
            </a:extLst>
          </p:cNvPr>
          <p:cNvSpPr txBox="1"/>
          <p:nvPr/>
        </p:nvSpPr>
        <p:spPr>
          <a:xfrm>
            <a:off x="6938323" y="1151086"/>
            <a:ext cx="402724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Integration &amp; Field Demo (Months 3 - 4)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7F194B5-A80E-2FF0-0DE7-5601354FF0DB}"/>
              </a:ext>
            </a:extLst>
          </p:cNvPr>
          <p:cNvCxnSpPr/>
          <p:nvPr/>
        </p:nvCxnSpPr>
        <p:spPr>
          <a:xfrm>
            <a:off x="1688842" y="1577921"/>
            <a:ext cx="28551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16C54FF-8EA7-B913-E54A-4D3B334A43C1}"/>
              </a:ext>
            </a:extLst>
          </p:cNvPr>
          <p:cNvCxnSpPr>
            <a:cxnSpLocks/>
          </p:cNvCxnSpPr>
          <p:nvPr/>
        </p:nvCxnSpPr>
        <p:spPr>
          <a:xfrm>
            <a:off x="7040959" y="1524621"/>
            <a:ext cx="37452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452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8"/>
          <p:cNvSpPr txBox="1"/>
          <p:nvPr/>
        </p:nvSpPr>
        <p:spPr>
          <a:xfrm>
            <a:off x="406960" y="179104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Technical Challenges </a:t>
            </a:r>
            <a:r>
              <a:rPr lang="en-US" sz="2550" b="1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&amp; Risks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8" name="Google Shape;458;p28" title="MBF_Logo_20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8" title="VK colored transparent logo.png"/>
          <p:cNvPicPr preferRelativeResize="0"/>
          <p:nvPr/>
        </p:nvPicPr>
        <p:blipFill rotWithShape="1">
          <a:blip r:embed="rId4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10D1D8B-1945-C76F-D756-C1CD8B4CD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798942"/>
              </p:ext>
            </p:extLst>
          </p:nvPr>
        </p:nvGraphicFramePr>
        <p:xfrm>
          <a:off x="1305089" y="699454"/>
          <a:ext cx="9581822" cy="519178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790911">
                  <a:extLst>
                    <a:ext uri="{9D8B030D-6E8A-4147-A177-3AD203B41FA5}">
                      <a16:colId xmlns:a16="http://schemas.microsoft.com/office/drawing/2014/main" val="3557744453"/>
                    </a:ext>
                  </a:extLst>
                </a:gridCol>
                <a:gridCol w="4790911">
                  <a:extLst>
                    <a:ext uri="{9D8B030D-6E8A-4147-A177-3AD203B41FA5}">
                      <a16:colId xmlns:a16="http://schemas.microsoft.com/office/drawing/2014/main" val="1381672906"/>
                    </a:ext>
                  </a:extLst>
                </a:gridCol>
              </a:tblGrid>
              <a:tr h="2969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Engineering Challenge / Risk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Potential Impact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739116"/>
                  </a:ext>
                </a:extLst>
              </a:tr>
              <a:tr h="6681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Distinguishing Drift from Normal Variation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Temporary fluctuations may be misclassified as persistent sensor faults, causing false alarms.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419520"/>
                  </a:ext>
                </a:extLst>
              </a:tr>
              <a:tr h="6681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Multi-Parameter Health Fusion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Combining sensor, power, and MCU-health indicators while maintaining reliable fault confidence can increase algorithm complexity.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837853"/>
                  </a:ext>
                </a:extLst>
              </a:tr>
              <a:tr h="6681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MCU Resources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EWMA/CUSUM, health-fusion logic, logging and continuous monitoring must remain within available CPU, RAM, flash and power budgets.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013627"/>
                  </a:ext>
                </a:extLst>
              </a:tr>
              <a:tr h="6681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Abnormal Power / Supply Conditions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Voltage or current disturbances may affect both the monitored sensor and controller, making fault attribution difficult.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424113"/>
                  </a:ext>
                </a:extLst>
              </a:tr>
              <a:tr h="6681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 Loss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failure can interrupt remote monitoring and requires reliable local diagnostic logging and recovery logic.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336618"/>
                  </a:ext>
                </a:extLst>
              </a:tr>
              <a:tr h="8660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Graceful Degradation Decisions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Selecting the correct transition between Normal → Warning → Degraded → Critical without unnecessary shutdown is a key control challenge.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51069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9935574-32CF-E6B5-BB66-C1476BDED90A}"/>
              </a:ext>
            </a:extLst>
          </p:cNvPr>
          <p:cNvSpPr txBox="1"/>
          <p:nvPr/>
        </p:nvSpPr>
        <p:spPr>
          <a:xfrm>
            <a:off x="2672080" y="6019190"/>
            <a:ext cx="707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Engineering Constraint: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 reliable local self-diagnosis while keeping computation, memory, latency and additional power consumption suitable for a low-cost MCU.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470;p29" title="MBF_Logo_2020.png">
            <a:extLst>
              <a:ext uri="{FF2B5EF4-FFF2-40B4-BE49-F238E27FC236}">
                <a16:creationId xmlns:a16="http://schemas.microsoft.com/office/drawing/2014/main" id="{C98E670F-F5C6-A746-4728-20C5259CBFC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471;p29" title="VK colored transparent logo.png">
            <a:extLst>
              <a:ext uri="{FF2B5EF4-FFF2-40B4-BE49-F238E27FC236}">
                <a16:creationId xmlns:a16="http://schemas.microsoft.com/office/drawing/2014/main" id="{1F7D3672-1646-F19D-E59C-BEEF33EF5F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F4501F-F7EA-B05D-88A3-7377B8D5D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640901"/>
              </p:ext>
            </p:extLst>
          </p:nvPr>
        </p:nvGraphicFramePr>
        <p:xfrm>
          <a:off x="1233910" y="722286"/>
          <a:ext cx="9724180" cy="515159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862090">
                  <a:extLst>
                    <a:ext uri="{9D8B030D-6E8A-4147-A177-3AD203B41FA5}">
                      <a16:colId xmlns:a16="http://schemas.microsoft.com/office/drawing/2014/main" val="965501403"/>
                    </a:ext>
                  </a:extLst>
                </a:gridCol>
                <a:gridCol w="4862090">
                  <a:extLst>
                    <a:ext uri="{9D8B030D-6E8A-4147-A177-3AD203B41FA5}">
                      <a16:colId xmlns:a16="http://schemas.microsoft.com/office/drawing/2014/main" val="3983478151"/>
                    </a:ext>
                  </a:extLst>
                </a:gridCol>
              </a:tblGrid>
              <a:tr h="3158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Potential Risk / Failure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Potential Solution / Mitigation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42876"/>
                  </a:ext>
                </a:extLst>
              </a:tr>
              <a:tr h="5026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Drift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gradual deviation using EWMA/CUSUM and validate against other health indicators.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594075"/>
                  </a:ext>
                </a:extLst>
              </a:tr>
              <a:tr h="7161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Disconnection / Failure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abnormal readings or loss of data, isolate the faulty sensor, and use a fallback value where applicable.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769847"/>
                  </a:ext>
                </a:extLst>
              </a:tr>
              <a:tr h="7161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Instability / Abnormal Current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Continuously monitor voltage and current and raise fault confidence when electrical behaviour becomes abnormal.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073615"/>
                  </a:ext>
                </a:extLst>
              </a:tr>
              <a:tr h="7161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MCU / Controller Fault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 temperature, reset cause, watchdog, communication and memory health; move to a predefined safe state when required.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1871"/>
                  </a:ext>
                </a:extLst>
              </a:tr>
              <a:tr h="7161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 Failure / Network Loss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Attempt communication recovery and use local diagnostic logging so fault information is retained without network connectivity.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211647"/>
                  </a:ext>
                </a:extLst>
              </a:tr>
              <a:tr h="5026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Persistent vs. Temporary Abnormality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health fusion + fault-confidence rather than relying on a single threshold.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604328"/>
                  </a:ext>
                </a:extLst>
              </a:tr>
              <a:tr h="5026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Escalating Fault / Unsafe Operation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graceful degradation: Normal → Warning → Degraded → Critical.</a:t>
                      </a:r>
                    </a:p>
                  </a:txBody>
                  <a:tcPr marL="86483" marR="86483" marT="43242" marB="43242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879536"/>
                  </a:ext>
                </a:extLst>
              </a:tr>
            </a:tbl>
          </a:graphicData>
        </a:graphic>
      </p:graphicFrame>
      <p:sp>
        <p:nvSpPr>
          <p:cNvPr id="10" name="Google Shape;469;p29">
            <a:extLst>
              <a:ext uri="{FF2B5EF4-FFF2-40B4-BE49-F238E27FC236}">
                <a16:creationId xmlns:a16="http://schemas.microsoft.com/office/drawing/2014/main" id="{022E7997-17E1-E54D-1DAF-1DA826DCC920}"/>
              </a:ext>
            </a:extLst>
          </p:cNvPr>
          <p:cNvSpPr txBox="1"/>
          <p:nvPr/>
        </p:nvSpPr>
        <p:spPr>
          <a:xfrm>
            <a:off x="366320" y="208136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Potential Solutions &amp; Risk Mitigation 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DAD2BA-F063-FEEA-CA7C-B8E47E57CAE6}"/>
              </a:ext>
            </a:extLst>
          </p:cNvPr>
          <p:cNvSpPr txBox="1"/>
          <p:nvPr/>
        </p:nvSpPr>
        <p:spPr>
          <a:xfrm>
            <a:off x="2357120" y="5995634"/>
            <a:ext cx="7904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Fallback strategy: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the primary signal or subsystem becomes unreliable,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SwasthEdge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progressively reduces risk through validation, isolation, fallback operation, recovery attempts, and safe-state transition.</a:t>
            </a:r>
          </a:p>
        </p:txBody>
      </p:sp>
    </p:spTree>
    <p:extLst>
      <p:ext uri="{BB962C8B-B14F-4D97-AF65-F5344CB8AC3E}">
        <p14:creationId xmlns:p14="http://schemas.microsoft.com/office/powerpoint/2010/main" val="2214625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/>
          <p:cNvSpPr/>
          <p:nvPr/>
        </p:nvSpPr>
        <p:spPr>
          <a:xfrm>
            <a:off x="514500" y="1187492"/>
            <a:ext cx="110490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05" name="Google Shape;505;p31"/>
          <p:cNvSpPr/>
          <p:nvPr/>
        </p:nvSpPr>
        <p:spPr>
          <a:xfrm>
            <a:off x="514500" y="1949492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06" name="Google Shape;506;p31"/>
          <p:cNvSpPr/>
          <p:nvPr/>
        </p:nvSpPr>
        <p:spPr>
          <a:xfrm>
            <a:off x="514500" y="1949492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08" name="Google Shape;508;p31"/>
          <p:cNvSpPr txBox="1"/>
          <p:nvPr/>
        </p:nvSpPr>
        <p:spPr>
          <a:xfrm>
            <a:off x="1609875" y="1337510"/>
            <a:ext cx="9953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https://drive.google.com/file/d/18aVEA84JQQvSDFFv31FtURB8URP6s71-/view?usp=sharing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9" name="Google Shape;509;p31"/>
          <p:cNvSpPr txBox="1"/>
          <p:nvPr/>
        </p:nvSpPr>
        <p:spPr>
          <a:xfrm>
            <a:off x="1606457" y="1573292"/>
            <a:ext cx="9953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kicad.org</a:t>
            </a:r>
            <a:r>
              <a:rPr 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1" name="Google Shape;511;p31"/>
          <p:cNvSpPr txBox="1"/>
          <p:nvPr/>
        </p:nvSpPr>
        <p:spPr>
          <a:xfrm>
            <a:off x="1606457" y="3044926"/>
            <a:ext cx="9953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https://drive.google.com/file/d/1UwEtkNEv0FDomdyTmOcfXZVLesxRijE1/view?usp=sharing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" name="Google Shape;512;p31"/>
          <p:cNvSpPr txBox="1"/>
          <p:nvPr/>
        </p:nvSpPr>
        <p:spPr>
          <a:xfrm>
            <a:off x="1606457" y="2429357"/>
            <a:ext cx="9953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Source: </a:t>
            </a:r>
            <a:r>
              <a:rPr lang="en-US" sz="1200" b="0" i="0" u="none" strike="noStrike" cap="none" dirty="0">
                <a:solidFill>
                  <a:srgbClr val="0000FF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kicad.org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3" name="Google Shape;513;p31"/>
          <p:cNvSpPr txBox="1"/>
          <p:nvPr/>
        </p:nvSpPr>
        <p:spPr>
          <a:xfrm>
            <a:off x="590400" y="476250"/>
            <a:ext cx="116016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References &amp; </a:t>
            </a:r>
            <a:r>
              <a:rPr lang="en-US" sz="32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Sources </a:t>
            </a:r>
            <a:endParaRPr sz="3200" b="1" dirty="0">
              <a:solidFill>
                <a:schemeClr val="tx1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4" name="Google Shape;514;p31" title="MBF_Logo_202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1" title="VK colored transparent logo.png"/>
          <p:cNvPicPr preferRelativeResize="0"/>
          <p:nvPr/>
        </p:nvPicPr>
        <p:blipFill rotWithShape="1">
          <a:blip r:embed="rId7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506;p31">
            <a:extLst>
              <a:ext uri="{FF2B5EF4-FFF2-40B4-BE49-F238E27FC236}">
                <a16:creationId xmlns:a16="http://schemas.microsoft.com/office/drawing/2014/main" id="{0B97C446-0FC1-6349-700F-1EFD6EE543B2}"/>
              </a:ext>
            </a:extLst>
          </p:cNvPr>
          <p:cNvSpPr/>
          <p:nvPr/>
        </p:nvSpPr>
        <p:spPr>
          <a:xfrm>
            <a:off x="552600" y="2848523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2" name="Google Shape;511;p31">
            <a:extLst>
              <a:ext uri="{FF2B5EF4-FFF2-40B4-BE49-F238E27FC236}">
                <a16:creationId xmlns:a16="http://schemas.microsoft.com/office/drawing/2014/main" id="{3EA74DBF-BA0B-927A-3A4D-D9C9A2A3D5F0}"/>
              </a:ext>
            </a:extLst>
          </p:cNvPr>
          <p:cNvSpPr txBox="1"/>
          <p:nvPr/>
        </p:nvSpPr>
        <p:spPr>
          <a:xfrm>
            <a:off x="1606457" y="2146032"/>
            <a:ext cx="9953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9948"/>
              </a:lnSpc>
            </a:pPr>
            <a:r>
              <a:rPr lang="en-I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https://drive.google.com/file/d/1wYRzzO_YdnxeIhUycdN4n_Zos5l7g55y/view?usp=sharing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7EBCE1-5628-A1F9-FEE7-5266604D3C11}"/>
              </a:ext>
            </a:extLst>
          </p:cNvPr>
          <p:cNvSpPr txBox="1"/>
          <p:nvPr/>
        </p:nvSpPr>
        <p:spPr>
          <a:xfrm>
            <a:off x="1523796" y="3306112"/>
            <a:ext cx="6097554" cy="336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Source: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  <a:hlinkClick r:id="rId4"/>
              </a:rPr>
              <a:t>kicad.org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269D4E-3C3D-5CBE-C10F-2D9ADE76B6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472" y="1223077"/>
            <a:ext cx="1029324" cy="6627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73020A-CD64-E391-1DCC-23BD7ABC80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600" y="2078251"/>
            <a:ext cx="971196" cy="6814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A69EFF9-3CE9-B8C2-9168-29BB21C03C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376" y="3033075"/>
            <a:ext cx="1029324" cy="5460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2"/>
          <p:cNvSpPr txBox="1"/>
          <p:nvPr/>
        </p:nvSpPr>
        <p:spPr>
          <a:xfrm>
            <a:off x="533400" y="296945"/>
            <a:ext cx="116586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Image Sources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3" name="Google Shape;523;p32"/>
          <p:cNvSpPr/>
          <p:nvPr/>
        </p:nvSpPr>
        <p:spPr>
          <a:xfrm>
            <a:off x="654698" y="807542"/>
            <a:ext cx="11125200" cy="922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37" name="Google Shape;537;p32"/>
          <p:cNvSpPr txBox="1"/>
          <p:nvPr/>
        </p:nvSpPr>
        <p:spPr>
          <a:xfrm>
            <a:off x="1651598" y="1509061"/>
            <a:ext cx="10029825" cy="31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Source: </a:t>
            </a:r>
            <a:r>
              <a:rPr lang="en-US" b="0" i="0" u="none" strike="noStrike" cap="none" dirty="0">
                <a:solidFill>
                  <a:srgbClr val="0000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drive.google.com</a:t>
            </a:r>
            <a:endParaRPr sz="1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1" name="Google Shape;551;p32" title="MBF_Logo_20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2" title="VK colored transparent logo.png"/>
          <p:cNvPicPr preferRelativeResize="0"/>
          <p:nvPr/>
        </p:nvPicPr>
        <p:blipFill rotWithShape="1">
          <a:blip r:embed="rId5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7855F5-9CB1-FFE7-B5A8-1EDA9D97BD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23" y="1153077"/>
            <a:ext cx="1060200" cy="6203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6BDF8F-C3AB-6EDE-E956-F711E80FE09C}"/>
              </a:ext>
            </a:extLst>
          </p:cNvPr>
          <p:cNvSpPr txBox="1"/>
          <p:nvPr/>
        </p:nvSpPr>
        <p:spPr>
          <a:xfrm>
            <a:off x="1553123" y="1234362"/>
            <a:ext cx="9156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https://drive.google.com/file/d/1MzbbyO2kHNY1_z6F4SUou90y5NS2iWfl/view?usp=drivesdk</a:t>
            </a:r>
            <a:endParaRPr lang="en-IN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964</TotalTime>
  <Words>2216</Words>
  <Application>Microsoft Office PowerPoint</Application>
  <PresentationFormat>Widescreen</PresentationFormat>
  <Paragraphs>379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Times New Roman</vt:lpstr>
      <vt:lpstr>Calibri</vt:lpstr>
      <vt:lpstr>Arial</vt:lpstr>
      <vt:lpstr>Wingdings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Chetan</dc:creator>
  <cp:lastModifiedBy>Vishweshwaran K</cp:lastModifiedBy>
  <cp:revision>123</cp:revision>
  <dcterms:modified xsi:type="dcterms:W3CDTF">2026-10-25T06:35:53Z</dcterms:modified>
</cp:coreProperties>
</file>